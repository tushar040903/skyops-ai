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sldIdLst>
    <p:sldId id="256" r:id="rId2"/>
    <p:sldId id="299" r:id="rId3"/>
    <p:sldId id="257" r:id="rId4"/>
    <p:sldId id="258" r:id="rId5"/>
    <p:sldId id="259" r:id="rId6"/>
    <p:sldId id="295" r:id="rId7"/>
    <p:sldId id="296" r:id="rId8"/>
    <p:sldId id="264" r:id="rId9"/>
    <p:sldId id="262" r:id="rId10"/>
    <p:sldId id="263"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301" r:id="rId26"/>
    <p:sldId id="280" r:id="rId27"/>
    <p:sldId id="281" r:id="rId28"/>
    <p:sldId id="282" r:id="rId29"/>
    <p:sldId id="283" r:id="rId30"/>
    <p:sldId id="284" r:id="rId31"/>
    <p:sldId id="286" r:id="rId32"/>
    <p:sldId id="289" r:id="rId33"/>
    <p:sldId id="288" r:id="rId34"/>
    <p:sldId id="285" r:id="rId35"/>
    <p:sldId id="287" r:id="rId36"/>
    <p:sldId id="290" r:id="rId37"/>
    <p:sldId id="291" r:id="rId38"/>
    <p:sldId id="292" r:id="rId39"/>
    <p:sldId id="297" r:id="rId40"/>
    <p:sldId id="298" r:id="rId41"/>
    <p:sldId id="293" r:id="rId42"/>
    <p:sldId id="294" r:id="rId43"/>
    <p:sldId id="300"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56" d="100"/>
          <a:sy n="56" d="100"/>
        </p:scale>
        <p:origin x="1068" y="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6B57E7-E8A7-41A3-94C6-19BF9CCDBE12}" type="datetimeFigureOut">
              <a:rPr lang="en-IN" smtClean="0"/>
              <a:t>05-10-2025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C114BAA-FB7C-4DA3-B1D5-0DEC8711AC19}" type="slidenum">
              <a:rPr lang="en-IN" smtClean="0"/>
              <a:t>‹#›</a:t>
            </a:fld>
            <a:endParaRPr lang="en-IN"/>
          </a:p>
        </p:txBody>
      </p:sp>
    </p:spTree>
    <p:extLst>
      <p:ext uri="{BB962C8B-B14F-4D97-AF65-F5344CB8AC3E}">
        <p14:creationId xmlns:p14="http://schemas.microsoft.com/office/powerpoint/2010/main" val="1858055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7FA01-AED0-1D60-05AF-58B64D64ACA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A91411C-19AE-AB29-B968-6FCDC345213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DFFA33D-A94E-01E3-5048-D871F95448F1}"/>
              </a:ext>
            </a:extLst>
          </p:cNvPr>
          <p:cNvSpPr>
            <a:spLocks noGrp="1"/>
          </p:cNvSpPr>
          <p:nvPr>
            <p:ph type="dt" sz="half" idx="10"/>
          </p:nvPr>
        </p:nvSpPr>
        <p:spPr/>
        <p:txBody>
          <a:bodyPr/>
          <a:lstStyle/>
          <a:p>
            <a:fld id="{5A2D4FE5-C9A3-4D26-9DD9-14275DBCC0EB}" type="datetimeFigureOut">
              <a:rPr lang="en-IN" smtClean="0"/>
              <a:t>05-10-2025</a:t>
            </a:fld>
            <a:endParaRPr lang="en-IN"/>
          </a:p>
        </p:txBody>
      </p:sp>
      <p:sp>
        <p:nvSpPr>
          <p:cNvPr id="5" name="Footer Placeholder 4">
            <a:extLst>
              <a:ext uri="{FF2B5EF4-FFF2-40B4-BE49-F238E27FC236}">
                <a16:creationId xmlns:a16="http://schemas.microsoft.com/office/drawing/2014/main" id="{6C060C38-8892-DE5E-DC92-A0B484B57E9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BB8A823-0FD0-11E0-FC3A-7570CFAB49E7}"/>
              </a:ext>
            </a:extLst>
          </p:cNvPr>
          <p:cNvSpPr>
            <a:spLocks noGrp="1"/>
          </p:cNvSpPr>
          <p:nvPr>
            <p:ph type="sldNum" sz="quarter" idx="12"/>
          </p:nvPr>
        </p:nvSpPr>
        <p:spPr/>
        <p:txBody>
          <a:bodyPr/>
          <a:lstStyle/>
          <a:p>
            <a:fld id="{28A5A9BD-600A-4D17-B519-A0DDF576D587}" type="slidenum">
              <a:rPr lang="en-IN" smtClean="0"/>
              <a:t>‹#›</a:t>
            </a:fld>
            <a:endParaRPr lang="en-IN"/>
          </a:p>
        </p:txBody>
      </p:sp>
    </p:spTree>
    <p:extLst>
      <p:ext uri="{BB962C8B-B14F-4D97-AF65-F5344CB8AC3E}">
        <p14:creationId xmlns:p14="http://schemas.microsoft.com/office/powerpoint/2010/main" val="37052968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DA967-9154-9605-86ED-2B3E4AAC4BC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5B4E12D-5D93-B65C-EB92-D488C5C592A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95CD398-BB75-0593-07E4-EED86A54366A}"/>
              </a:ext>
            </a:extLst>
          </p:cNvPr>
          <p:cNvSpPr>
            <a:spLocks noGrp="1"/>
          </p:cNvSpPr>
          <p:nvPr>
            <p:ph type="dt" sz="half" idx="10"/>
          </p:nvPr>
        </p:nvSpPr>
        <p:spPr/>
        <p:txBody>
          <a:bodyPr/>
          <a:lstStyle/>
          <a:p>
            <a:fld id="{5A2D4FE5-C9A3-4D26-9DD9-14275DBCC0EB}" type="datetimeFigureOut">
              <a:rPr lang="en-IN" smtClean="0"/>
              <a:t>05-10-2025</a:t>
            </a:fld>
            <a:endParaRPr lang="en-IN"/>
          </a:p>
        </p:txBody>
      </p:sp>
      <p:sp>
        <p:nvSpPr>
          <p:cNvPr id="5" name="Footer Placeholder 4">
            <a:extLst>
              <a:ext uri="{FF2B5EF4-FFF2-40B4-BE49-F238E27FC236}">
                <a16:creationId xmlns:a16="http://schemas.microsoft.com/office/drawing/2014/main" id="{92BA57DA-2F78-31AA-6A11-3C16B47751D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F2B03DE-9109-CF98-CC83-66DECAB6A42A}"/>
              </a:ext>
            </a:extLst>
          </p:cNvPr>
          <p:cNvSpPr>
            <a:spLocks noGrp="1"/>
          </p:cNvSpPr>
          <p:nvPr>
            <p:ph type="sldNum" sz="quarter" idx="12"/>
          </p:nvPr>
        </p:nvSpPr>
        <p:spPr/>
        <p:txBody>
          <a:bodyPr/>
          <a:lstStyle/>
          <a:p>
            <a:fld id="{28A5A9BD-600A-4D17-B519-A0DDF576D587}" type="slidenum">
              <a:rPr lang="en-IN" smtClean="0"/>
              <a:t>‹#›</a:t>
            </a:fld>
            <a:endParaRPr lang="en-IN"/>
          </a:p>
        </p:txBody>
      </p:sp>
    </p:spTree>
    <p:extLst>
      <p:ext uri="{BB962C8B-B14F-4D97-AF65-F5344CB8AC3E}">
        <p14:creationId xmlns:p14="http://schemas.microsoft.com/office/powerpoint/2010/main" val="35881835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125B4-9045-D6CE-75E2-E4F51346747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1EB6DCB-140F-2984-75F6-7A085899CA1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39360D3-A71C-5D3B-7BAC-02CDBAD2414B}"/>
              </a:ext>
            </a:extLst>
          </p:cNvPr>
          <p:cNvSpPr>
            <a:spLocks noGrp="1"/>
          </p:cNvSpPr>
          <p:nvPr>
            <p:ph type="dt" sz="half" idx="10"/>
          </p:nvPr>
        </p:nvSpPr>
        <p:spPr/>
        <p:txBody>
          <a:bodyPr/>
          <a:lstStyle/>
          <a:p>
            <a:fld id="{5A2D4FE5-C9A3-4D26-9DD9-14275DBCC0EB}" type="datetimeFigureOut">
              <a:rPr lang="en-IN" smtClean="0"/>
              <a:t>05-10-2025</a:t>
            </a:fld>
            <a:endParaRPr lang="en-IN"/>
          </a:p>
        </p:txBody>
      </p:sp>
      <p:sp>
        <p:nvSpPr>
          <p:cNvPr id="5" name="Footer Placeholder 4">
            <a:extLst>
              <a:ext uri="{FF2B5EF4-FFF2-40B4-BE49-F238E27FC236}">
                <a16:creationId xmlns:a16="http://schemas.microsoft.com/office/drawing/2014/main" id="{E0E12520-C95D-301D-F500-02BD130F45D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A6AE7E4-E50D-E877-97EF-00D544088193}"/>
              </a:ext>
            </a:extLst>
          </p:cNvPr>
          <p:cNvSpPr>
            <a:spLocks noGrp="1"/>
          </p:cNvSpPr>
          <p:nvPr>
            <p:ph type="sldNum" sz="quarter" idx="12"/>
          </p:nvPr>
        </p:nvSpPr>
        <p:spPr/>
        <p:txBody>
          <a:bodyPr/>
          <a:lstStyle/>
          <a:p>
            <a:fld id="{28A5A9BD-600A-4D17-B519-A0DDF576D587}" type="slidenum">
              <a:rPr lang="en-IN" smtClean="0"/>
              <a:t>‹#›</a:t>
            </a:fld>
            <a:endParaRPr lang="en-IN"/>
          </a:p>
        </p:txBody>
      </p:sp>
    </p:spTree>
    <p:extLst>
      <p:ext uri="{BB962C8B-B14F-4D97-AF65-F5344CB8AC3E}">
        <p14:creationId xmlns:p14="http://schemas.microsoft.com/office/powerpoint/2010/main" val="37048147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D7B50-06DB-BA6A-0944-0E07A1371C1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2AB5A23-72D2-C816-00F9-46127616860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4A5CF50-61A6-C35B-B8F0-8BDB47A5AD4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E124572-B6C4-3757-4260-D2D06328BB04}"/>
              </a:ext>
            </a:extLst>
          </p:cNvPr>
          <p:cNvSpPr>
            <a:spLocks noGrp="1"/>
          </p:cNvSpPr>
          <p:nvPr>
            <p:ph type="dt" sz="half" idx="10"/>
          </p:nvPr>
        </p:nvSpPr>
        <p:spPr/>
        <p:txBody>
          <a:bodyPr/>
          <a:lstStyle/>
          <a:p>
            <a:fld id="{5A2D4FE5-C9A3-4D26-9DD9-14275DBCC0EB}" type="datetimeFigureOut">
              <a:rPr lang="en-IN" smtClean="0"/>
              <a:t>05-10-2025</a:t>
            </a:fld>
            <a:endParaRPr lang="en-IN"/>
          </a:p>
        </p:txBody>
      </p:sp>
      <p:sp>
        <p:nvSpPr>
          <p:cNvPr id="6" name="Footer Placeholder 5">
            <a:extLst>
              <a:ext uri="{FF2B5EF4-FFF2-40B4-BE49-F238E27FC236}">
                <a16:creationId xmlns:a16="http://schemas.microsoft.com/office/drawing/2014/main" id="{078C7066-0064-3D3D-CF10-28658B6D502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E7C6AEC-FF3A-4CE9-0559-F9FAD8C1E2E3}"/>
              </a:ext>
            </a:extLst>
          </p:cNvPr>
          <p:cNvSpPr>
            <a:spLocks noGrp="1"/>
          </p:cNvSpPr>
          <p:nvPr>
            <p:ph type="sldNum" sz="quarter" idx="12"/>
          </p:nvPr>
        </p:nvSpPr>
        <p:spPr/>
        <p:txBody>
          <a:bodyPr/>
          <a:lstStyle/>
          <a:p>
            <a:fld id="{28A5A9BD-600A-4D17-B519-A0DDF576D587}" type="slidenum">
              <a:rPr lang="en-IN" smtClean="0"/>
              <a:t>‹#›</a:t>
            </a:fld>
            <a:endParaRPr lang="en-IN"/>
          </a:p>
        </p:txBody>
      </p:sp>
    </p:spTree>
    <p:extLst>
      <p:ext uri="{BB962C8B-B14F-4D97-AF65-F5344CB8AC3E}">
        <p14:creationId xmlns:p14="http://schemas.microsoft.com/office/powerpoint/2010/main" val="3951219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120F5-8458-5950-0B1B-A0A83E9429E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52A353D-807F-7DA5-D6A7-DDDC46B8D9D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51574CB-6F1C-9D18-44B0-DAF05C29B1D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91B54AF-5269-80F4-B1CB-62B4170A877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1B5193B-638C-116D-BD7E-1517D0693DF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8114EBF-A8B1-D44F-2369-F924913E1A69}"/>
              </a:ext>
            </a:extLst>
          </p:cNvPr>
          <p:cNvSpPr>
            <a:spLocks noGrp="1"/>
          </p:cNvSpPr>
          <p:nvPr>
            <p:ph type="dt" sz="half" idx="10"/>
          </p:nvPr>
        </p:nvSpPr>
        <p:spPr/>
        <p:txBody>
          <a:bodyPr/>
          <a:lstStyle/>
          <a:p>
            <a:fld id="{5A2D4FE5-C9A3-4D26-9DD9-14275DBCC0EB}" type="datetimeFigureOut">
              <a:rPr lang="en-IN" smtClean="0"/>
              <a:t>05-10-2025</a:t>
            </a:fld>
            <a:endParaRPr lang="en-IN"/>
          </a:p>
        </p:txBody>
      </p:sp>
      <p:sp>
        <p:nvSpPr>
          <p:cNvPr id="8" name="Footer Placeholder 7">
            <a:extLst>
              <a:ext uri="{FF2B5EF4-FFF2-40B4-BE49-F238E27FC236}">
                <a16:creationId xmlns:a16="http://schemas.microsoft.com/office/drawing/2014/main" id="{E849AB08-7A4E-0AA4-8324-9A4CA670237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9835DDC-6AAE-5061-8935-F4E41B29A9AD}"/>
              </a:ext>
            </a:extLst>
          </p:cNvPr>
          <p:cNvSpPr>
            <a:spLocks noGrp="1"/>
          </p:cNvSpPr>
          <p:nvPr>
            <p:ph type="sldNum" sz="quarter" idx="12"/>
          </p:nvPr>
        </p:nvSpPr>
        <p:spPr/>
        <p:txBody>
          <a:bodyPr/>
          <a:lstStyle/>
          <a:p>
            <a:fld id="{28A5A9BD-600A-4D17-B519-A0DDF576D587}" type="slidenum">
              <a:rPr lang="en-IN" smtClean="0"/>
              <a:t>‹#›</a:t>
            </a:fld>
            <a:endParaRPr lang="en-IN"/>
          </a:p>
        </p:txBody>
      </p:sp>
    </p:spTree>
    <p:extLst>
      <p:ext uri="{BB962C8B-B14F-4D97-AF65-F5344CB8AC3E}">
        <p14:creationId xmlns:p14="http://schemas.microsoft.com/office/powerpoint/2010/main" val="24709164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C6731-E12E-ABF7-70AA-CA88145453A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F38CF9A-5983-4905-D44B-A3B8A0662F62}"/>
              </a:ext>
            </a:extLst>
          </p:cNvPr>
          <p:cNvSpPr>
            <a:spLocks noGrp="1"/>
          </p:cNvSpPr>
          <p:nvPr>
            <p:ph type="dt" sz="half" idx="10"/>
          </p:nvPr>
        </p:nvSpPr>
        <p:spPr/>
        <p:txBody>
          <a:bodyPr/>
          <a:lstStyle/>
          <a:p>
            <a:fld id="{5A2D4FE5-C9A3-4D26-9DD9-14275DBCC0EB}" type="datetimeFigureOut">
              <a:rPr lang="en-IN" smtClean="0"/>
              <a:t>05-10-2025</a:t>
            </a:fld>
            <a:endParaRPr lang="en-IN"/>
          </a:p>
        </p:txBody>
      </p:sp>
      <p:sp>
        <p:nvSpPr>
          <p:cNvPr id="4" name="Footer Placeholder 3">
            <a:extLst>
              <a:ext uri="{FF2B5EF4-FFF2-40B4-BE49-F238E27FC236}">
                <a16:creationId xmlns:a16="http://schemas.microsoft.com/office/drawing/2014/main" id="{9EC88C0B-5CE8-D6CC-4FB1-FE2FABF95B1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52302E1-E57E-B7FE-7A4C-9D6ADF0FBDBF}"/>
              </a:ext>
            </a:extLst>
          </p:cNvPr>
          <p:cNvSpPr>
            <a:spLocks noGrp="1"/>
          </p:cNvSpPr>
          <p:nvPr>
            <p:ph type="sldNum" sz="quarter" idx="12"/>
          </p:nvPr>
        </p:nvSpPr>
        <p:spPr/>
        <p:txBody>
          <a:bodyPr/>
          <a:lstStyle/>
          <a:p>
            <a:fld id="{28A5A9BD-600A-4D17-B519-A0DDF576D587}" type="slidenum">
              <a:rPr lang="en-IN" smtClean="0"/>
              <a:t>‹#›</a:t>
            </a:fld>
            <a:endParaRPr lang="en-IN"/>
          </a:p>
        </p:txBody>
      </p:sp>
    </p:spTree>
    <p:extLst>
      <p:ext uri="{BB962C8B-B14F-4D97-AF65-F5344CB8AC3E}">
        <p14:creationId xmlns:p14="http://schemas.microsoft.com/office/powerpoint/2010/main" val="26056821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FA7A645-F3FE-02CA-B7D4-CF0A101F75A2}"/>
              </a:ext>
            </a:extLst>
          </p:cNvPr>
          <p:cNvSpPr>
            <a:spLocks noGrp="1"/>
          </p:cNvSpPr>
          <p:nvPr>
            <p:ph type="dt" sz="half" idx="10"/>
          </p:nvPr>
        </p:nvSpPr>
        <p:spPr/>
        <p:txBody>
          <a:bodyPr/>
          <a:lstStyle/>
          <a:p>
            <a:fld id="{5A2D4FE5-C9A3-4D26-9DD9-14275DBCC0EB}" type="datetimeFigureOut">
              <a:rPr lang="en-IN" smtClean="0"/>
              <a:t>05-10-2025</a:t>
            </a:fld>
            <a:endParaRPr lang="en-IN"/>
          </a:p>
        </p:txBody>
      </p:sp>
      <p:sp>
        <p:nvSpPr>
          <p:cNvPr id="3" name="Footer Placeholder 2">
            <a:extLst>
              <a:ext uri="{FF2B5EF4-FFF2-40B4-BE49-F238E27FC236}">
                <a16:creationId xmlns:a16="http://schemas.microsoft.com/office/drawing/2014/main" id="{737AF72F-7869-91F2-213B-3BAC6045067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92A5A09-6ACA-3BAE-030C-2F8E437EF58F}"/>
              </a:ext>
            </a:extLst>
          </p:cNvPr>
          <p:cNvSpPr>
            <a:spLocks noGrp="1"/>
          </p:cNvSpPr>
          <p:nvPr>
            <p:ph type="sldNum" sz="quarter" idx="12"/>
          </p:nvPr>
        </p:nvSpPr>
        <p:spPr/>
        <p:txBody>
          <a:bodyPr/>
          <a:lstStyle/>
          <a:p>
            <a:fld id="{28A5A9BD-600A-4D17-B519-A0DDF576D587}" type="slidenum">
              <a:rPr lang="en-IN" smtClean="0"/>
              <a:t>‹#›</a:t>
            </a:fld>
            <a:endParaRPr lang="en-IN"/>
          </a:p>
        </p:txBody>
      </p:sp>
    </p:spTree>
    <p:extLst>
      <p:ext uri="{BB962C8B-B14F-4D97-AF65-F5344CB8AC3E}">
        <p14:creationId xmlns:p14="http://schemas.microsoft.com/office/powerpoint/2010/main" val="31854266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E9B54-3BD9-E4E5-3712-7DE2593896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4740414-3796-5DCF-2571-FDA33E0C495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B8C1D6B-4CA1-FEB6-9F51-65B613A7BA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CC99B63-01C9-66B9-4192-E78607026AFB}"/>
              </a:ext>
            </a:extLst>
          </p:cNvPr>
          <p:cNvSpPr>
            <a:spLocks noGrp="1"/>
          </p:cNvSpPr>
          <p:nvPr>
            <p:ph type="dt" sz="half" idx="10"/>
          </p:nvPr>
        </p:nvSpPr>
        <p:spPr/>
        <p:txBody>
          <a:bodyPr/>
          <a:lstStyle/>
          <a:p>
            <a:fld id="{5A2D4FE5-C9A3-4D26-9DD9-14275DBCC0EB}" type="datetimeFigureOut">
              <a:rPr lang="en-IN" smtClean="0"/>
              <a:t>05-10-2025</a:t>
            </a:fld>
            <a:endParaRPr lang="en-IN"/>
          </a:p>
        </p:txBody>
      </p:sp>
      <p:sp>
        <p:nvSpPr>
          <p:cNvPr id="6" name="Footer Placeholder 5">
            <a:extLst>
              <a:ext uri="{FF2B5EF4-FFF2-40B4-BE49-F238E27FC236}">
                <a16:creationId xmlns:a16="http://schemas.microsoft.com/office/drawing/2014/main" id="{0E4C0002-2668-0E34-8F34-1C74E7B7428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733F47D-395A-63F7-ADA3-611F67C045C3}"/>
              </a:ext>
            </a:extLst>
          </p:cNvPr>
          <p:cNvSpPr>
            <a:spLocks noGrp="1"/>
          </p:cNvSpPr>
          <p:nvPr>
            <p:ph type="sldNum" sz="quarter" idx="12"/>
          </p:nvPr>
        </p:nvSpPr>
        <p:spPr/>
        <p:txBody>
          <a:bodyPr/>
          <a:lstStyle/>
          <a:p>
            <a:fld id="{28A5A9BD-600A-4D17-B519-A0DDF576D587}" type="slidenum">
              <a:rPr lang="en-IN" smtClean="0"/>
              <a:t>‹#›</a:t>
            </a:fld>
            <a:endParaRPr lang="en-IN"/>
          </a:p>
        </p:txBody>
      </p:sp>
    </p:spTree>
    <p:extLst>
      <p:ext uri="{BB962C8B-B14F-4D97-AF65-F5344CB8AC3E}">
        <p14:creationId xmlns:p14="http://schemas.microsoft.com/office/powerpoint/2010/main" val="26724945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BB4CB-B149-C33E-5FDC-BEA27069BCE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0181A7E-D00E-DB6B-9400-A218020865D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5C25474-B9F1-18AA-9002-1FD2D45B41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D474B6-799C-87D3-34C1-F13711F26B8C}"/>
              </a:ext>
            </a:extLst>
          </p:cNvPr>
          <p:cNvSpPr>
            <a:spLocks noGrp="1"/>
          </p:cNvSpPr>
          <p:nvPr>
            <p:ph type="dt" sz="half" idx="10"/>
          </p:nvPr>
        </p:nvSpPr>
        <p:spPr/>
        <p:txBody>
          <a:bodyPr/>
          <a:lstStyle/>
          <a:p>
            <a:fld id="{5A2D4FE5-C9A3-4D26-9DD9-14275DBCC0EB}" type="datetimeFigureOut">
              <a:rPr lang="en-IN" smtClean="0"/>
              <a:t>05-10-2025</a:t>
            </a:fld>
            <a:endParaRPr lang="en-IN"/>
          </a:p>
        </p:txBody>
      </p:sp>
      <p:sp>
        <p:nvSpPr>
          <p:cNvPr id="6" name="Footer Placeholder 5">
            <a:extLst>
              <a:ext uri="{FF2B5EF4-FFF2-40B4-BE49-F238E27FC236}">
                <a16:creationId xmlns:a16="http://schemas.microsoft.com/office/drawing/2014/main" id="{4474FFE9-AFAD-F5B3-C42D-55227E94BA1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DE8442D-1B67-AC79-869C-CAD30F45077A}"/>
              </a:ext>
            </a:extLst>
          </p:cNvPr>
          <p:cNvSpPr>
            <a:spLocks noGrp="1"/>
          </p:cNvSpPr>
          <p:nvPr>
            <p:ph type="sldNum" sz="quarter" idx="12"/>
          </p:nvPr>
        </p:nvSpPr>
        <p:spPr/>
        <p:txBody>
          <a:bodyPr/>
          <a:lstStyle/>
          <a:p>
            <a:fld id="{28A5A9BD-600A-4D17-B519-A0DDF576D587}" type="slidenum">
              <a:rPr lang="en-IN" smtClean="0"/>
              <a:t>‹#›</a:t>
            </a:fld>
            <a:endParaRPr lang="en-IN"/>
          </a:p>
        </p:txBody>
      </p:sp>
    </p:spTree>
    <p:extLst>
      <p:ext uri="{BB962C8B-B14F-4D97-AF65-F5344CB8AC3E}">
        <p14:creationId xmlns:p14="http://schemas.microsoft.com/office/powerpoint/2010/main" val="18355494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B65BC-2E65-4433-B75C-B18D818D143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23037FF-C5F3-9441-BF5D-1D5D53940D3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B672260-B4DE-083B-CD64-936A23F991A1}"/>
              </a:ext>
            </a:extLst>
          </p:cNvPr>
          <p:cNvSpPr>
            <a:spLocks noGrp="1"/>
          </p:cNvSpPr>
          <p:nvPr>
            <p:ph type="dt" sz="half" idx="10"/>
          </p:nvPr>
        </p:nvSpPr>
        <p:spPr/>
        <p:txBody>
          <a:bodyPr/>
          <a:lstStyle/>
          <a:p>
            <a:fld id="{5A2D4FE5-C9A3-4D26-9DD9-14275DBCC0EB}" type="datetimeFigureOut">
              <a:rPr lang="en-IN" smtClean="0"/>
              <a:t>05-10-2025</a:t>
            </a:fld>
            <a:endParaRPr lang="en-IN"/>
          </a:p>
        </p:txBody>
      </p:sp>
      <p:sp>
        <p:nvSpPr>
          <p:cNvPr id="5" name="Footer Placeholder 4">
            <a:extLst>
              <a:ext uri="{FF2B5EF4-FFF2-40B4-BE49-F238E27FC236}">
                <a16:creationId xmlns:a16="http://schemas.microsoft.com/office/drawing/2014/main" id="{D11F0B00-1D51-5D7D-B48C-687CC8131BC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A60DB5E-2D35-D843-5E0B-F15FA268FD12}"/>
              </a:ext>
            </a:extLst>
          </p:cNvPr>
          <p:cNvSpPr>
            <a:spLocks noGrp="1"/>
          </p:cNvSpPr>
          <p:nvPr>
            <p:ph type="sldNum" sz="quarter" idx="12"/>
          </p:nvPr>
        </p:nvSpPr>
        <p:spPr/>
        <p:txBody>
          <a:bodyPr/>
          <a:lstStyle/>
          <a:p>
            <a:fld id="{28A5A9BD-600A-4D17-B519-A0DDF576D587}" type="slidenum">
              <a:rPr lang="en-IN" smtClean="0"/>
              <a:t>‹#›</a:t>
            </a:fld>
            <a:endParaRPr lang="en-IN"/>
          </a:p>
        </p:txBody>
      </p:sp>
    </p:spTree>
    <p:extLst>
      <p:ext uri="{BB962C8B-B14F-4D97-AF65-F5344CB8AC3E}">
        <p14:creationId xmlns:p14="http://schemas.microsoft.com/office/powerpoint/2010/main" val="10026786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CF1D8C2-A9A9-C912-9546-340B5F6C8CA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46045F6-CEEA-A9C2-978D-619362D37DA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84781DC-4052-6A15-D930-014AE7C04B19}"/>
              </a:ext>
            </a:extLst>
          </p:cNvPr>
          <p:cNvSpPr>
            <a:spLocks noGrp="1"/>
          </p:cNvSpPr>
          <p:nvPr>
            <p:ph type="dt" sz="half" idx="10"/>
          </p:nvPr>
        </p:nvSpPr>
        <p:spPr/>
        <p:txBody>
          <a:bodyPr/>
          <a:lstStyle/>
          <a:p>
            <a:fld id="{5A2D4FE5-C9A3-4D26-9DD9-14275DBCC0EB}" type="datetimeFigureOut">
              <a:rPr lang="en-IN" smtClean="0"/>
              <a:t>05-10-2025</a:t>
            </a:fld>
            <a:endParaRPr lang="en-IN"/>
          </a:p>
        </p:txBody>
      </p:sp>
      <p:sp>
        <p:nvSpPr>
          <p:cNvPr id="5" name="Footer Placeholder 4">
            <a:extLst>
              <a:ext uri="{FF2B5EF4-FFF2-40B4-BE49-F238E27FC236}">
                <a16:creationId xmlns:a16="http://schemas.microsoft.com/office/drawing/2014/main" id="{6B9DFEF1-48ED-C14E-137B-5FF4C581D39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8B7ABF1-C763-1513-6CC0-CF53C932E123}"/>
              </a:ext>
            </a:extLst>
          </p:cNvPr>
          <p:cNvSpPr>
            <a:spLocks noGrp="1"/>
          </p:cNvSpPr>
          <p:nvPr>
            <p:ph type="sldNum" sz="quarter" idx="12"/>
          </p:nvPr>
        </p:nvSpPr>
        <p:spPr/>
        <p:txBody>
          <a:bodyPr/>
          <a:lstStyle/>
          <a:p>
            <a:fld id="{28A5A9BD-600A-4D17-B519-A0DDF576D587}" type="slidenum">
              <a:rPr lang="en-IN" smtClean="0"/>
              <a:t>‹#›</a:t>
            </a:fld>
            <a:endParaRPr lang="en-IN"/>
          </a:p>
        </p:txBody>
      </p:sp>
    </p:spTree>
    <p:extLst>
      <p:ext uri="{BB962C8B-B14F-4D97-AF65-F5344CB8AC3E}">
        <p14:creationId xmlns:p14="http://schemas.microsoft.com/office/powerpoint/2010/main" val="20144280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5A9CBD2-EB80-A15E-D881-57665A3A5C1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E4408F6-025A-B463-B2E5-57A5DE654FD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B1C1748-9FA4-A1D4-5AD6-F458ED84CA6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A2D4FE5-C9A3-4D26-9DD9-14275DBCC0EB}" type="datetimeFigureOut">
              <a:rPr lang="en-IN" smtClean="0"/>
              <a:t>05-10-2025</a:t>
            </a:fld>
            <a:endParaRPr lang="en-IN"/>
          </a:p>
        </p:txBody>
      </p:sp>
      <p:sp>
        <p:nvSpPr>
          <p:cNvPr id="5" name="Footer Placeholder 4">
            <a:extLst>
              <a:ext uri="{FF2B5EF4-FFF2-40B4-BE49-F238E27FC236}">
                <a16:creationId xmlns:a16="http://schemas.microsoft.com/office/drawing/2014/main" id="{7AAC416C-1AE1-8F80-5E33-EA4BAD2268C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ED59E20-88DE-87BE-0C12-5013DA0294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8A5A9BD-600A-4D17-B519-A0DDF576D587}" type="slidenum">
              <a:rPr lang="en-IN" smtClean="0"/>
              <a:t>‹#›</a:t>
            </a:fld>
            <a:endParaRPr lang="en-IN"/>
          </a:p>
        </p:txBody>
      </p:sp>
    </p:spTree>
    <p:extLst>
      <p:ext uri="{BB962C8B-B14F-4D97-AF65-F5344CB8AC3E}">
        <p14:creationId xmlns:p14="http://schemas.microsoft.com/office/powerpoint/2010/main" val="8489446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hyperlink" Target="https://drive.google.com/file/d/10r_zNhn4JO-igrgMqI5Tm_Pd9Q3oHVwM/view?usp=sharing" TargetMode="Externa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hyperlink" Target="https://drive.google.com/file/d/1SvKb9RDi0q31vFst_LUH363T744wwNnL/view?usp=sharing" TargetMode="Externa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hyperlink" Target="https://drive.google.com/file/d/1if6V9zdbcQUmqsqWKkRf4RzdoCE9Nn9F/view?usp=sharing" TargetMode="Externa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hyperlink" Target="https://drive.google.com/file/d/1cUJrWk44Q-Dt0pt3UEpkdSYt5nHl8uXA/view?usp=sharing" TargetMode="Externa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D79A4-069E-DB82-A7DA-BE1DF317E888}"/>
              </a:ext>
            </a:extLst>
          </p:cNvPr>
          <p:cNvSpPr>
            <a:spLocks noGrp="1"/>
          </p:cNvSpPr>
          <p:nvPr>
            <p:ph type="ctrTitle"/>
          </p:nvPr>
        </p:nvSpPr>
        <p:spPr>
          <a:xfrm>
            <a:off x="1524000" y="1367850"/>
            <a:ext cx="9144000" cy="1909763"/>
          </a:xfrm>
        </p:spPr>
        <p:txBody>
          <a:bodyPr/>
          <a:lstStyle/>
          <a:p>
            <a:r>
              <a:rPr lang="en-IN" dirty="0"/>
              <a:t>Flight Complexity Analysis and Prediction</a:t>
            </a:r>
          </a:p>
        </p:txBody>
      </p:sp>
      <p:sp>
        <p:nvSpPr>
          <p:cNvPr id="3" name="Subtitle 2">
            <a:extLst>
              <a:ext uri="{FF2B5EF4-FFF2-40B4-BE49-F238E27FC236}">
                <a16:creationId xmlns:a16="http://schemas.microsoft.com/office/drawing/2014/main" id="{1B2011BC-40EE-6F18-2466-B92DA8A7D3F4}"/>
              </a:ext>
            </a:extLst>
          </p:cNvPr>
          <p:cNvSpPr>
            <a:spLocks noGrp="1"/>
          </p:cNvSpPr>
          <p:nvPr>
            <p:ph type="subTitle" idx="1"/>
          </p:nvPr>
        </p:nvSpPr>
        <p:spPr>
          <a:xfrm>
            <a:off x="1524000" y="3580387"/>
            <a:ext cx="9144000" cy="1270903"/>
          </a:xfrm>
        </p:spPr>
        <p:txBody>
          <a:bodyPr/>
          <a:lstStyle/>
          <a:p>
            <a:r>
              <a:rPr lang="en-GB" dirty="0"/>
              <a:t>A data-driven framework to evaluate and predict flight complexity using operational, passenger, and baggage factors — enabling smarter, delay-free airline operations.</a:t>
            </a:r>
            <a:endParaRPr lang="en-IN" dirty="0"/>
          </a:p>
        </p:txBody>
      </p:sp>
      <p:sp>
        <p:nvSpPr>
          <p:cNvPr id="4" name="TextBox 3">
            <a:extLst>
              <a:ext uri="{FF2B5EF4-FFF2-40B4-BE49-F238E27FC236}">
                <a16:creationId xmlns:a16="http://schemas.microsoft.com/office/drawing/2014/main" id="{B55E7E53-0162-4BA2-BFD6-7F7276B8392D}"/>
              </a:ext>
            </a:extLst>
          </p:cNvPr>
          <p:cNvSpPr txBox="1"/>
          <p:nvPr/>
        </p:nvSpPr>
        <p:spPr>
          <a:xfrm>
            <a:off x="5215218" y="5095234"/>
            <a:ext cx="6976782" cy="1631216"/>
          </a:xfrm>
          <a:prstGeom prst="rect">
            <a:avLst/>
          </a:prstGeom>
          <a:noFill/>
        </p:spPr>
        <p:txBody>
          <a:bodyPr wrap="none" rtlCol="0">
            <a:spAutoFit/>
          </a:bodyPr>
          <a:lstStyle/>
          <a:p>
            <a:pPr algn="ctr"/>
            <a:r>
              <a:rPr lang="en-IN" sz="2800" b="1" u="sng" dirty="0"/>
              <a:t>Team </a:t>
            </a:r>
            <a:r>
              <a:rPr lang="en-IN" sz="2800" b="1" u="sng" dirty="0" err="1"/>
              <a:t>Jupyter</a:t>
            </a:r>
            <a:endParaRPr lang="en-IN" sz="2800" b="1" u="sng" dirty="0"/>
          </a:p>
          <a:p>
            <a:pPr algn="r"/>
            <a:r>
              <a:rPr lang="en-IN" sz="2400" dirty="0"/>
              <a:t>Tushar Bhardwaj (ECE) (12215060)</a:t>
            </a:r>
          </a:p>
          <a:p>
            <a:pPr algn="r"/>
            <a:r>
              <a:rPr lang="en-IN" sz="2400" dirty="0"/>
              <a:t>Ankit Meena (ECE) (12215059</a:t>
            </a:r>
          </a:p>
          <a:p>
            <a:pPr algn="r"/>
            <a:r>
              <a:rPr lang="en-IN" sz="2400" dirty="0"/>
              <a:t>National Institute of Technology Kurukshetra (NIT KKR)</a:t>
            </a:r>
          </a:p>
        </p:txBody>
      </p:sp>
      <p:pic>
        <p:nvPicPr>
          <p:cNvPr id="6" name="Picture 5">
            <a:extLst>
              <a:ext uri="{FF2B5EF4-FFF2-40B4-BE49-F238E27FC236}">
                <a16:creationId xmlns:a16="http://schemas.microsoft.com/office/drawing/2014/main" id="{463A023B-F5FA-63EB-A49B-FC35F5087A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85794"/>
            <a:ext cx="2495550" cy="1409700"/>
          </a:xfrm>
          <a:prstGeom prst="rect">
            <a:avLst/>
          </a:prstGeom>
        </p:spPr>
      </p:pic>
      <p:pic>
        <p:nvPicPr>
          <p:cNvPr id="1026" name="Picture 2" descr="NIT Kurukshetra »">
            <a:extLst>
              <a:ext uri="{FF2B5EF4-FFF2-40B4-BE49-F238E27FC236}">
                <a16:creationId xmlns:a16="http://schemas.microsoft.com/office/drawing/2014/main" id="{EE5B8F6B-6CEF-B132-ABEB-8627D3712D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76335" y="-117037"/>
            <a:ext cx="3438525" cy="133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53167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F9D1C8A-C2B2-8A04-C53D-F40030046AFC}"/>
              </a:ext>
            </a:extLst>
          </p:cNvPr>
          <p:cNvSpPr txBox="1"/>
          <p:nvPr/>
        </p:nvSpPr>
        <p:spPr>
          <a:xfrm>
            <a:off x="269057" y="170735"/>
            <a:ext cx="2959465" cy="1107996"/>
          </a:xfrm>
          <a:prstGeom prst="rect">
            <a:avLst/>
          </a:prstGeom>
          <a:noFill/>
        </p:spPr>
        <p:txBody>
          <a:bodyPr wrap="none" rtlCol="0">
            <a:spAutoFit/>
          </a:bodyPr>
          <a:lstStyle/>
          <a:p>
            <a:r>
              <a:rPr lang="en-IN" sz="6600" dirty="0"/>
              <a:t>Content</a:t>
            </a:r>
          </a:p>
        </p:txBody>
      </p:sp>
      <p:sp>
        <p:nvSpPr>
          <p:cNvPr id="3" name="TextBox 2">
            <a:extLst>
              <a:ext uri="{FF2B5EF4-FFF2-40B4-BE49-F238E27FC236}">
                <a16:creationId xmlns:a16="http://schemas.microsoft.com/office/drawing/2014/main" id="{7AC2286D-1FB7-0DE3-AE5F-F5814F6F55EE}"/>
              </a:ext>
            </a:extLst>
          </p:cNvPr>
          <p:cNvSpPr txBox="1"/>
          <p:nvPr/>
        </p:nvSpPr>
        <p:spPr>
          <a:xfrm>
            <a:off x="718459" y="1278731"/>
            <a:ext cx="3607078" cy="5693866"/>
          </a:xfrm>
          <a:prstGeom prst="rect">
            <a:avLst/>
          </a:prstGeom>
          <a:noFill/>
        </p:spPr>
        <p:txBody>
          <a:bodyPr wrap="none" rtlCol="0">
            <a:spAutoFit/>
          </a:bodyPr>
          <a:lstStyle/>
          <a:p>
            <a:pPr marL="342900" indent="-342900">
              <a:buFont typeface="+mj-lt"/>
              <a:buAutoNum type="arabicPeriod"/>
            </a:pPr>
            <a:r>
              <a:rPr lang="en-IN" sz="2800" dirty="0"/>
              <a:t>Problem Statement</a:t>
            </a:r>
          </a:p>
          <a:p>
            <a:pPr marL="342900" indent="-342900">
              <a:buFont typeface="+mj-lt"/>
              <a:buAutoNum type="arabicPeriod"/>
            </a:pPr>
            <a:r>
              <a:rPr lang="en-IN" sz="2800" dirty="0"/>
              <a:t>Objectives</a:t>
            </a:r>
          </a:p>
          <a:p>
            <a:pPr marL="342900" indent="-342900">
              <a:buFont typeface="+mj-lt"/>
              <a:buAutoNum type="arabicPeriod"/>
            </a:pPr>
            <a:r>
              <a:rPr lang="en-IN" sz="2800" dirty="0"/>
              <a:t>Data Description</a:t>
            </a:r>
          </a:p>
          <a:p>
            <a:pPr marL="342900" indent="-342900">
              <a:buFont typeface="+mj-lt"/>
              <a:buAutoNum type="arabicPeriod"/>
            </a:pPr>
            <a:r>
              <a:rPr lang="en-IN" sz="2800" dirty="0"/>
              <a:t>Solution </a:t>
            </a:r>
          </a:p>
          <a:p>
            <a:pPr marL="342900" indent="-342900">
              <a:buFont typeface="+mj-lt"/>
              <a:buAutoNum type="arabicPeriod"/>
            </a:pPr>
            <a:r>
              <a:rPr lang="en-IN" sz="2800" dirty="0"/>
              <a:t>Flight Level Data </a:t>
            </a:r>
          </a:p>
          <a:p>
            <a:pPr marL="342900" indent="-342900">
              <a:buFont typeface="+mj-lt"/>
              <a:buAutoNum type="arabicPeriod"/>
            </a:pPr>
            <a:r>
              <a:rPr lang="en-IN" sz="2800" dirty="0"/>
              <a:t>Passenger Level Data</a:t>
            </a:r>
          </a:p>
          <a:p>
            <a:pPr marL="342900" indent="-342900">
              <a:buFont typeface="+mj-lt"/>
              <a:buAutoNum type="arabicPeriod"/>
            </a:pPr>
            <a:r>
              <a:rPr lang="en-IN" sz="2800" dirty="0"/>
              <a:t>Bag Level Data</a:t>
            </a:r>
          </a:p>
          <a:p>
            <a:pPr marL="342900" indent="-342900">
              <a:buFont typeface="+mj-lt"/>
              <a:buAutoNum type="arabicPeriod"/>
            </a:pPr>
            <a:r>
              <a:rPr lang="en-IN" sz="2800" dirty="0"/>
              <a:t>Combined Data</a:t>
            </a:r>
          </a:p>
          <a:p>
            <a:pPr marL="342900" indent="-342900">
              <a:buFont typeface="+mj-lt"/>
              <a:buAutoNum type="arabicPeriod"/>
            </a:pPr>
            <a:r>
              <a:rPr lang="en-IN" sz="2800" dirty="0"/>
              <a:t>Insights</a:t>
            </a:r>
          </a:p>
          <a:p>
            <a:pPr marL="342900" indent="-342900">
              <a:buFont typeface="+mj-lt"/>
              <a:buAutoNum type="arabicPeriod"/>
            </a:pPr>
            <a:r>
              <a:rPr lang="en-IN" sz="2800" dirty="0"/>
              <a:t>Recommendations</a:t>
            </a:r>
          </a:p>
          <a:p>
            <a:pPr marL="342900" indent="-342900">
              <a:buFont typeface="+mj-lt"/>
              <a:buAutoNum type="arabicPeriod"/>
            </a:pPr>
            <a:r>
              <a:rPr lang="en-IN" sz="2800" dirty="0"/>
              <a:t>Advantage</a:t>
            </a:r>
          </a:p>
          <a:p>
            <a:pPr marL="342900" indent="-342900">
              <a:buFont typeface="+mj-lt"/>
              <a:buAutoNum type="arabicPeriod"/>
            </a:pPr>
            <a:r>
              <a:rPr lang="en-IN" sz="2800" dirty="0"/>
              <a:t>Optimizations</a:t>
            </a:r>
          </a:p>
          <a:p>
            <a:pPr marL="342900" indent="-342900">
              <a:buFont typeface="+mj-lt"/>
              <a:buAutoNum type="arabicPeriod"/>
            </a:pPr>
            <a:endParaRPr lang="en-IN" sz="2800" dirty="0"/>
          </a:p>
        </p:txBody>
      </p:sp>
    </p:spTree>
    <p:extLst>
      <p:ext uri="{BB962C8B-B14F-4D97-AF65-F5344CB8AC3E}">
        <p14:creationId xmlns:p14="http://schemas.microsoft.com/office/powerpoint/2010/main" val="29500830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6ED7E-B51A-CAD3-E475-048F8A691D0D}"/>
              </a:ext>
            </a:extLst>
          </p:cNvPr>
          <p:cNvSpPr>
            <a:spLocks noGrp="1"/>
          </p:cNvSpPr>
          <p:nvPr>
            <p:ph type="title"/>
          </p:nvPr>
        </p:nvSpPr>
        <p:spPr>
          <a:xfrm>
            <a:off x="838200" y="136525"/>
            <a:ext cx="10515600" cy="1325563"/>
          </a:xfrm>
        </p:spPr>
        <p:txBody>
          <a:bodyPr>
            <a:normAutofit/>
          </a:bodyPr>
          <a:lstStyle/>
          <a:p>
            <a:pPr algn="ctr"/>
            <a:r>
              <a:rPr lang="en-IN" sz="8000" b="1" dirty="0"/>
              <a:t>Problem Statement</a:t>
            </a:r>
          </a:p>
        </p:txBody>
      </p:sp>
      <p:sp>
        <p:nvSpPr>
          <p:cNvPr id="3" name="Content Placeholder 2">
            <a:extLst>
              <a:ext uri="{FF2B5EF4-FFF2-40B4-BE49-F238E27FC236}">
                <a16:creationId xmlns:a16="http://schemas.microsoft.com/office/drawing/2014/main" id="{589E6EB1-05DA-50D5-7607-65659D4B86FD}"/>
              </a:ext>
            </a:extLst>
          </p:cNvPr>
          <p:cNvSpPr>
            <a:spLocks noGrp="1"/>
          </p:cNvSpPr>
          <p:nvPr>
            <p:ph idx="1"/>
          </p:nvPr>
        </p:nvSpPr>
        <p:spPr>
          <a:xfrm>
            <a:off x="0" y="1462088"/>
            <a:ext cx="12192000" cy="5395912"/>
          </a:xfrm>
        </p:spPr>
        <p:txBody>
          <a:bodyPr>
            <a:normAutofit fontScale="92500"/>
          </a:bodyPr>
          <a:lstStyle/>
          <a:p>
            <a:pPr marL="0" indent="0">
              <a:buNone/>
            </a:pPr>
            <a:r>
              <a:rPr lang="en-GB" dirty="0"/>
              <a:t>Frontline teams at </a:t>
            </a:r>
            <a:r>
              <a:rPr lang="en-GB" b="1" dirty="0"/>
              <a:t>United Airlines</a:t>
            </a:r>
            <a:r>
              <a:rPr lang="en-GB" dirty="0"/>
              <a:t> work hard to ensure that every flight departs safely and on time.</a:t>
            </a:r>
            <a:br>
              <a:rPr lang="en-GB" dirty="0"/>
            </a:br>
            <a:r>
              <a:rPr lang="en-GB" dirty="0"/>
              <a:t>However, not all flights are equally easy to manage — some are more </a:t>
            </a:r>
            <a:r>
              <a:rPr lang="en-GB" b="1" dirty="0"/>
              <a:t>complex</a:t>
            </a:r>
            <a:r>
              <a:rPr lang="en-GB" dirty="0"/>
              <a:t> due to: </a:t>
            </a:r>
          </a:p>
          <a:p>
            <a:r>
              <a:rPr lang="en-GB" dirty="0"/>
              <a:t>Short ground turnaround time,</a:t>
            </a:r>
          </a:p>
          <a:p>
            <a:r>
              <a:rPr lang="en-GB" dirty="0"/>
              <a:t>A large number of passengers or baggage, and</a:t>
            </a:r>
          </a:p>
          <a:p>
            <a:r>
              <a:rPr lang="en-GB" dirty="0"/>
              <a:t>Special service needs from certain customers.</a:t>
            </a:r>
          </a:p>
          <a:p>
            <a:pPr marL="0" indent="0">
              <a:buNone/>
            </a:pPr>
            <a:r>
              <a:rPr lang="en-GB" dirty="0"/>
              <a:t>Currently, this complexity is identified </a:t>
            </a:r>
            <a:r>
              <a:rPr lang="en-GB" b="1" dirty="0"/>
              <a:t>manually</a:t>
            </a:r>
            <a:r>
              <a:rPr lang="en-GB" dirty="0"/>
              <a:t> based on team experience and local knowledge.</a:t>
            </a:r>
            <a:br>
              <a:rPr lang="en-GB" dirty="0"/>
            </a:br>
            <a:r>
              <a:rPr lang="en-GB" dirty="0"/>
              <a:t>This makes the process </a:t>
            </a:r>
            <a:r>
              <a:rPr lang="en-GB" b="1" dirty="0"/>
              <a:t>inconsistent, hard to scale,</a:t>
            </a:r>
            <a:r>
              <a:rPr lang="en-GB" dirty="0"/>
              <a:t> and limits the ability to plan resources proactively.</a:t>
            </a:r>
          </a:p>
          <a:p>
            <a:pPr marL="0" indent="0">
              <a:buNone/>
            </a:pPr>
            <a:r>
              <a:rPr lang="en-GB" dirty="0"/>
              <a:t>Hence, the challenge is to build a </a:t>
            </a:r>
            <a:r>
              <a:rPr lang="en-GB" b="1" dirty="0"/>
              <a:t>data-driven system</a:t>
            </a:r>
            <a:r>
              <a:rPr lang="en-GB" dirty="0"/>
              <a:t> that can automatically measure and predict how difficult each flight is to handle — called the </a:t>
            </a:r>
            <a:r>
              <a:rPr lang="en-GB" b="1" dirty="0"/>
              <a:t>Flight Difficulty (or Complexity) Score.</a:t>
            </a:r>
            <a:endParaRPr lang="en-GB" dirty="0"/>
          </a:p>
          <a:p>
            <a:pPr marL="0" indent="0">
              <a:buNone/>
            </a:pPr>
            <a:endParaRPr lang="en-IN" dirty="0"/>
          </a:p>
        </p:txBody>
      </p:sp>
    </p:spTree>
    <p:extLst>
      <p:ext uri="{BB962C8B-B14F-4D97-AF65-F5344CB8AC3E}">
        <p14:creationId xmlns:p14="http://schemas.microsoft.com/office/powerpoint/2010/main" val="34452315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8FF9D-26E5-8E22-7170-85055EFB3426}"/>
              </a:ext>
            </a:extLst>
          </p:cNvPr>
          <p:cNvSpPr>
            <a:spLocks noGrp="1"/>
          </p:cNvSpPr>
          <p:nvPr>
            <p:ph type="title"/>
          </p:nvPr>
        </p:nvSpPr>
        <p:spPr>
          <a:xfrm>
            <a:off x="838200" y="113665"/>
            <a:ext cx="10515600" cy="1325563"/>
          </a:xfrm>
        </p:spPr>
        <p:txBody>
          <a:bodyPr>
            <a:normAutofit/>
          </a:bodyPr>
          <a:lstStyle/>
          <a:p>
            <a:pPr algn="ctr"/>
            <a:r>
              <a:rPr lang="en-IN" sz="8000" b="1" dirty="0"/>
              <a:t>Objectives</a:t>
            </a:r>
          </a:p>
        </p:txBody>
      </p:sp>
      <p:sp>
        <p:nvSpPr>
          <p:cNvPr id="3" name="Content Placeholder 2">
            <a:extLst>
              <a:ext uri="{FF2B5EF4-FFF2-40B4-BE49-F238E27FC236}">
                <a16:creationId xmlns:a16="http://schemas.microsoft.com/office/drawing/2014/main" id="{239285EA-2789-310B-9AF6-5AF21F0B312C}"/>
              </a:ext>
            </a:extLst>
          </p:cNvPr>
          <p:cNvSpPr>
            <a:spLocks noGrp="1"/>
          </p:cNvSpPr>
          <p:nvPr>
            <p:ph idx="1"/>
          </p:nvPr>
        </p:nvSpPr>
        <p:spPr>
          <a:xfrm>
            <a:off x="1165860" y="1439228"/>
            <a:ext cx="10187940" cy="5418771"/>
          </a:xfrm>
        </p:spPr>
        <p:txBody>
          <a:bodyPr>
            <a:normAutofit/>
          </a:bodyPr>
          <a:lstStyle/>
          <a:p>
            <a:pPr marL="0" indent="0">
              <a:buNone/>
            </a:pPr>
            <a:r>
              <a:rPr lang="en-GB" sz="4000" dirty="0"/>
              <a:t>To create a framework that:</a:t>
            </a:r>
          </a:p>
          <a:p>
            <a:r>
              <a:rPr lang="en-GB" sz="4000" b="1" dirty="0"/>
              <a:t>Calculates a Flight Complexity Score</a:t>
            </a:r>
            <a:r>
              <a:rPr lang="en-GB" sz="4000" dirty="0"/>
              <a:t> for each flight using flight, passenger, and baggage data.</a:t>
            </a:r>
          </a:p>
          <a:p>
            <a:r>
              <a:rPr lang="en-GB" sz="4000" b="1" dirty="0"/>
              <a:t>Finds the main factors</a:t>
            </a:r>
            <a:r>
              <a:rPr lang="en-GB" sz="4000" dirty="0"/>
              <a:t> that make some flights more complex than others.</a:t>
            </a:r>
          </a:p>
          <a:p>
            <a:r>
              <a:rPr lang="en-GB" sz="4000" b="1" dirty="0"/>
              <a:t>Helps operations teams plan better</a:t>
            </a:r>
            <a:r>
              <a:rPr lang="en-GB" sz="4000" dirty="0"/>
              <a:t> and allocate resources efficiently before problems arise.</a:t>
            </a:r>
          </a:p>
          <a:p>
            <a:pPr marL="0" indent="0">
              <a:buNone/>
            </a:pPr>
            <a:endParaRPr lang="en-IN" sz="4000" dirty="0"/>
          </a:p>
        </p:txBody>
      </p:sp>
    </p:spTree>
    <p:extLst>
      <p:ext uri="{BB962C8B-B14F-4D97-AF65-F5344CB8AC3E}">
        <p14:creationId xmlns:p14="http://schemas.microsoft.com/office/powerpoint/2010/main" val="17607354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69897-5447-F676-50A7-ADBD62816BF7}"/>
              </a:ext>
            </a:extLst>
          </p:cNvPr>
          <p:cNvSpPr>
            <a:spLocks noGrp="1"/>
          </p:cNvSpPr>
          <p:nvPr>
            <p:ph type="title"/>
          </p:nvPr>
        </p:nvSpPr>
        <p:spPr>
          <a:xfrm>
            <a:off x="376800" y="92598"/>
            <a:ext cx="4806387" cy="1585732"/>
          </a:xfrm>
        </p:spPr>
        <p:txBody>
          <a:bodyPr>
            <a:noAutofit/>
          </a:bodyPr>
          <a:lstStyle/>
          <a:p>
            <a:r>
              <a:rPr lang="en-IN" sz="5400" dirty="0"/>
              <a:t>DATA DESCRIPTION</a:t>
            </a:r>
          </a:p>
        </p:txBody>
      </p:sp>
      <p:sp>
        <p:nvSpPr>
          <p:cNvPr id="9" name="Rectangle 1">
            <a:extLst>
              <a:ext uri="{FF2B5EF4-FFF2-40B4-BE49-F238E27FC236}">
                <a16:creationId xmlns:a16="http://schemas.microsoft.com/office/drawing/2014/main" id="{F53144A0-E76F-99A8-407E-AAD84D616087}"/>
              </a:ext>
            </a:extLst>
          </p:cNvPr>
          <p:cNvSpPr>
            <a:spLocks noGrp="1" noChangeArrowheads="1"/>
          </p:cNvSpPr>
          <p:nvPr>
            <p:ph type="body" sz="half" idx="2"/>
          </p:nvPr>
        </p:nvSpPr>
        <p:spPr bwMode="auto">
          <a:xfrm>
            <a:off x="249518" y="1718131"/>
            <a:ext cx="11854851"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1" i="0" u="none" strike="noStrike" cap="none" normalizeH="0" baseline="0" dirty="0">
                <a:ln>
                  <a:noFill/>
                </a:ln>
                <a:solidFill>
                  <a:schemeClr val="tx1"/>
                </a:solidFill>
                <a:effectLst/>
                <a:latin typeface="Arial" panose="020B0604020202020204" pitchFamily="34" charset="0"/>
              </a:rPr>
              <a:t>Airports Data:</a:t>
            </a:r>
            <a:r>
              <a:rPr kumimoji="0" lang="en-US" altLang="en-US" sz="3200" b="0" i="0" u="none" strike="noStrike" cap="none" normalizeH="0" baseline="0" dirty="0">
                <a:ln>
                  <a:noFill/>
                </a:ln>
                <a:solidFill>
                  <a:schemeClr val="tx1"/>
                </a:solidFill>
                <a:effectLst/>
                <a:latin typeface="Arial" panose="020B0604020202020204" pitchFamily="34" charset="0"/>
              </a:rPr>
              <a:t> Details about airports and minimum turnaround requirements.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1" i="0" u="none" strike="noStrike" cap="none" normalizeH="0" baseline="0" dirty="0">
                <a:ln>
                  <a:noFill/>
                </a:ln>
                <a:solidFill>
                  <a:schemeClr val="tx1"/>
                </a:solidFill>
                <a:effectLst/>
                <a:latin typeface="Arial" panose="020B0604020202020204" pitchFamily="34" charset="0"/>
              </a:rPr>
              <a:t>Flight Level Data:</a:t>
            </a:r>
            <a:r>
              <a:rPr kumimoji="0" lang="en-US" altLang="en-US" sz="3200" b="0" i="0" u="none" strike="noStrike" cap="none" normalizeH="0" baseline="0" dirty="0">
                <a:ln>
                  <a:noFill/>
                </a:ln>
                <a:solidFill>
                  <a:schemeClr val="tx1"/>
                </a:solidFill>
                <a:effectLst/>
                <a:latin typeface="Arial" panose="020B0604020202020204" pitchFamily="34" charset="0"/>
              </a:rPr>
              <a:t> Flight schedules, delays, and ground time metrics.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1" i="0" u="none" strike="noStrike" cap="none" normalizeH="0" baseline="0" dirty="0">
                <a:ln>
                  <a:noFill/>
                </a:ln>
                <a:solidFill>
                  <a:schemeClr val="tx1"/>
                </a:solidFill>
                <a:effectLst/>
                <a:latin typeface="Arial" panose="020B0604020202020204" pitchFamily="34" charset="0"/>
              </a:rPr>
              <a:t>Bag Level Data:</a:t>
            </a:r>
            <a:r>
              <a:rPr kumimoji="0" lang="en-US" altLang="en-US" sz="3200" b="0" i="0" u="none" strike="noStrike" cap="none" normalizeH="0" baseline="0" dirty="0">
                <a:ln>
                  <a:noFill/>
                </a:ln>
                <a:solidFill>
                  <a:schemeClr val="tx1"/>
                </a:solidFill>
                <a:effectLst/>
                <a:latin typeface="Arial" panose="020B0604020202020204" pitchFamily="34" charset="0"/>
              </a:rPr>
              <a:t> Number and type of bags — Origin, Transfer, and Hot Transfer.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1" i="0" u="none" strike="noStrike" cap="none" normalizeH="0" baseline="0" dirty="0">
                <a:ln>
                  <a:noFill/>
                </a:ln>
                <a:solidFill>
                  <a:schemeClr val="tx1"/>
                </a:solidFill>
                <a:effectLst/>
                <a:latin typeface="Arial" panose="020B0604020202020204" pitchFamily="34" charset="0"/>
              </a:rPr>
              <a:t>PNR Flight Level Data:</a:t>
            </a:r>
            <a:r>
              <a:rPr kumimoji="0" lang="en-US" altLang="en-US" sz="3200" b="0" i="0" u="none" strike="noStrike" cap="none" normalizeH="0" baseline="0" dirty="0">
                <a:ln>
                  <a:noFill/>
                </a:ln>
                <a:solidFill>
                  <a:schemeClr val="tx1"/>
                </a:solidFill>
                <a:effectLst/>
                <a:latin typeface="Arial" panose="020B0604020202020204" pitchFamily="34" charset="0"/>
              </a:rPr>
              <a:t> Passenger-level data such as total passengers, children, and special categories.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1" i="0" u="none" strike="noStrike" cap="none" normalizeH="0" baseline="0" dirty="0">
                <a:ln>
                  <a:noFill/>
                </a:ln>
                <a:solidFill>
                  <a:schemeClr val="tx1"/>
                </a:solidFill>
                <a:effectLst/>
                <a:latin typeface="Arial" panose="020B0604020202020204" pitchFamily="34" charset="0"/>
              </a:rPr>
              <a:t>PNR Remark Level Data:</a:t>
            </a:r>
            <a:r>
              <a:rPr kumimoji="0" lang="en-US" altLang="en-US" sz="3200" b="0" i="0" u="none" strike="noStrike" cap="none" normalizeH="0" baseline="0" dirty="0">
                <a:ln>
                  <a:noFill/>
                </a:ln>
                <a:solidFill>
                  <a:schemeClr val="tx1"/>
                </a:solidFill>
                <a:effectLst/>
                <a:latin typeface="Arial" panose="020B0604020202020204" pitchFamily="34" charset="0"/>
              </a:rPr>
              <a:t> Remarks or special service indicators linked to passenger experience.</a:t>
            </a:r>
          </a:p>
        </p:txBody>
      </p:sp>
    </p:spTree>
    <p:extLst>
      <p:ext uri="{BB962C8B-B14F-4D97-AF65-F5344CB8AC3E}">
        <p14:creationId xmlns:p14="http://schemas.microsoft.com/office/powerpoint/2010/main" val="41873456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A72E3-FD01-C2B4-A456-8BA37DE8E972}"/>
              </a:ext>
            </a:extLst>
          </p:cNvPr>
          <p:cNvSpPr>
            <a:spLocks noGrp="1"/>
          </p:cNvSpPr>
          <p:nvPr>
            <p:ph type="title"/>
          </p:nvPr>
        </p:nvSpPr>
        <p:spPr>
          <a:xfrm>
            <a:off x="838200" y="0"/>
            <a:ext cx="10515600" cy="1325563"/>
          </a:xfrm>
        </p:spPr>
        <p:txBody>
          <a:bodyPr/>
          <a:lstStyle/>
          <a:p>
            <a:r>
              <a:rPr lang="en-IN" b="1" dirty="0"/>
              <a:t>Solution</a:t>
            </a:r>
          </a:p>
        </p:txBody>
      </p:sp>
      <p:sp>
        <p:nvSpPr>
          <p:cNvPr id="4" name="Rectangle 1">
            <a:extLst>
              <a:ext uri="{FF2B5EF4-FFF2-40B4-BE49-F238E27FC236}">
                <a16:creationId xmlns:a16="http://schemas.microsoft.com/office/drawing/2014/main" id="{03F8E4F0-4477-F3C1-E56F-4D9FA2659AE7}"/>
              </a:ext>
            </a:extLst>
          </p:cNvPr>
          <p:cNvSpPr>
            <a:spLocks noGrp="1" noChangeArrowheads="1"/>
          </p:cNvSpPr>
          <p:nvPr>
            <p:ph idx="1"/>
          </p:nvPr>
        </p:nvSpPr>
        <p:spPr bwMode="auto">
          <a:xfrm>
            <a:off x="0" y="983446"/>
            <a:ext cx="12192000" cy="58477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2200" b="1" i="0" u="none" strike="noStrike" cap="none" normalizeH="0" baseline="0" dirty="0">
                <a:ln>
                  <a:noFill/>
                </a:ln>
                <a:solidFill>
                  <a:schemeClr val="tx1"/>
                </a:solidFill>
                <a:effectLst/>
                <a:latin typeface="Arial" panose="020B0604020202020204" pitchFamily="34" charset="0"/>
              </a:rPr>
              <a:t>1️⃣ Data Integration:</a:t>
            </a:r>
            <a:br>
              <a:rPr kumimoji="0" lang="en-US" altLang="en-US" sz="2200" b="0" i="0" u="none" strike="noStrike" cap="none" normalizeH="0" baseline="0" dirty="0">
                <a:ln>
                  <a:noFill/>
                </a:ln>
                <a:solidFill>
                  <a:schemeClr val="tx1"/>
                </a:solidFill>
                <a:effectLst/>
                <a:latin typeface="Arial" panose="020B0604020202020204" pitchFamily="34" charset="0"/>
              </a:rPr>
            </a:br>
            <a:r>
              <a:rPr kumimoji="0" lang="en-US" altLang="en-US" sz="2200" b="0" i="0" u="none" strike="noStrike" cap="none" normalizeH="0" baseline="0" dirty="0">
                <a:ln>
                  <a:noFill/>
                </a:ln>
                <a:solidFill>
                  <a:schemeClr val="tx1"/>
                </a:solidFill>
                <a:effectLst/>
                <a:latin typeface="Arial" panose="020B0604020202020204" pitchFamily="34" charset="0"/>
              </a:rPr>
              <a:t>	Combined multiple datasets — flight, passenger, and baggage — to create a unified view 	of each flight’s operational profile.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200" b="1" i="0" u="none" strike="noStrike" cap="none" normalizeH="0" baseline="0" dirty="0">
                <a:ln>
                  <a:noFill/>
                </a:ln>
                <a:solidFill>
                  <a:schemeClr val="tx1"/>
                </a:solidFill>
                <a:effectLst/>
                <a:latin typeface="Arial" panose="020B0604020202020204" pitchFamily="34" charset="0"/>
              </a:rPr>
              <a:t>2️⃣ Feature Identification:</a:t>
            </a:r>
            <a:br>
              <a:rPr kumimoji="0" lang="en-US" altLang="en-US" sz="2200" b="0" i="0" u="none" strike="noStrike" cap="none" normalizeH="0" baseline="0" dirty="0">
                <a:ln>
                  <a:noFill/>
                </a:ln>
                <a:solidFill>
                  <a:schemeClr val="tx1"/>
                </a:solidFill>
                <a:effectLst/>
                <a:latin typeface="Arial" panose="020B0604020202020204" pitchFamily="34" charset="0"/>
              </a:rPr>
            </a:br>
            <a:r>
              <a:rPr kumimoji="0" lang="en-US" altLang="en-US" sz="2200" b="0" i="0" u="none" strike="noStrike" cap="none" normalizeH="0" baseline="0" dirty="0">
                <a:ln>
                  <a:noFill/>
                </a:ln>
                <a:solidFill>
                  <a:schemeClr val="tx1"/>
                </a:solidFill>
                <a:effectLst/>
                <a:latin typeface="Arial" panose="020B0604020202020204" pitchFamily="34" charset="0"/>
              </a:rPr>
              <a:t>	Analyzed key parameters like ground time, bag type, transfer ratio, and passenger load to 	find which factors truly impact flight difficulty.</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200" b="1" i="0" u="none" strike="noStrike" cap="none" normalizeH="0" baseline="0" dirty="0">
                <a:ln>
                  <a:noFill/>
                </a:ln>
                <a:solidFill>
                  <a:schemeClr val="tx1"/>
                </a:solidFill>
                <a:effectLst/>
                <a:latin typeface="Arial" panose="020B0604020202020204" pitchFamily="34" charset="0"/>
              </a:rPr>
              <a:t>3️⃣ Scoring Framework:</a:t>
            </a:r>
            <a:br>
              <a:rPr kumimoji="0" lang="en-US" altLang="en-US" sz="2200" b="0" i="0" u="none" strike="noStrike" cap="none" normalizeH="0" baseline="0" dirty="0">
                <a:ln>
                  <a:noFill/>
                </a:ln>
                <a:solidFill>
                  <a:schemeClr val="tx1"/>
                </a:solidFill>
                <a:effectLst/>
                <a:latin typeface="Arial" panose="020B0604020202020204" pitchFamily="34" charset="0"/>
              </a:rPr>
            </a:br>
            <a:r>
              <a:rPr kumimoji="0" lang="en-US" altLang="en-US" sz="2200" b="0" i="0" u="none" strike="noStrike" cap="none" normalizeH="0" baseline="0" dirty="0">
                <a:ln>
                  <a:noFill/>
                </a:ln>
                <a:solidFill>
                  <a:schemeClr val="tx1"/>
                </a:solidFill>
                <a:effectLst/>
                <a:latin typeface="Arial" panose="020B0604020202020204" pitchFamily="34" charset="0"/>
              </a:rPr>
              <a:t>	Designed a </a:t>
            </a:r>
            <a:r>
              <a:rPr kumimoji="0" lang="en-US" altLang="en-US" sz="2200" b="1" i="0" u="none" strike="noStrike" cap="none" normalizeH="0" baseline="0" dirty="0">
                <a:ln>
                  <a:noFill/>
                </a:ln>
                <a:solidFill>
                  <a:schemeClr val="tx1"/>
                </a:solidFill>
                <a:effectLst/>
                <a:latin typeface="Arial" panose="020B0604020202020204" pitchFamily="34" charset="0"/>
              </a:rPr>
              <a:t>Flight Complexity Score</a:t>
            </a:r>
            <a:r>
              <a:rPr kumimoji="0" lang="en-US" altLang="en-US" sz="2200" b="0" i="0" u="none" strike="noStrike" cap="none" normalizeH="0" baseline="0" dirty="0">
                <a:ln>
                  <a:noFill/>
                </a:ln>
                <a:solidFill>
                  <a:schemeClr val="tx1"/>
                </a:solidFill>
                <a:effectLst/>
                <a:latin typeface="Arial" panose="020B0604020202020204" pitchFamily="34" charset="0"/>
              </a:rPr>
              <a:t> based on weighted contribution of three aspects: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Delay (45%)</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Passenger (35%)</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Baggage (20%)</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200" b="1" i="0" u="none" strike="noStrike" cap="none" normalizeH="0" baseline="0" dirty="0">
                <a:ln>
                  <a:noFill/>
                </a:ln>
                <a:solidFill>
                  <a:schemeClr val="tx1"/>
                </a:solidFill>
                <a:effectLst/>
                <a:latin typeface="Arial" panose="020B0604020202020204" pitchFamily="34" charset="0"/>
              </a:rPr>
              <a:t>4️⃣ Classification:</a:t>
            </a:r>
            <a:br>
              <a:rPr kumimoji="0" lang="en-US" altLang="en-US" sz="2200" b="0" i="0" u="none" strike="noStrike" cap="none" normalizeH="0" baseline="0" dirty="0">
                <a:ln>
                  <a:noFill/>
                </a:ln>
                <a:solidFill>
                  <a:schemeClr val="tx1"/>
                </a:solidFill>
                <a:effectLst/>
                <a:latin typeface="Arial" panose="020B0604020202020204" pitchFamily="34" charset="0"/>
              </a:rPr>
            </a:br>
            <a:r>
              <a:rPr kumimoji="0" lang="en-US" altLang="en-US" sz="2200" b="0" i="0" u="none" strike="noStrike" cap="none" normalizeH="0" baseline="0" dirty="0">
                <a:ln>
                  <a:noFill/>
                </a:ln>
                <a:solidFill>
                  <a:schemeClr val="tx1"/>
                </a:solidFill>
                <a:effectLst/>
                <a:latin typeface="Arial" panose="020B0604020202020204" pitchFamily="34" charset="0"/>
              </a:rPr>
              <a:t>	Ranked flights daily and categorized them as </a:t>
            </a:r>
            <a:r>
              <a:rPr kumimoji="0" lang="en-US" altLang="en-US" sz="2200" b="1" i="0" u="none" strike="noStrike" cap="none" normalizeH="0" baseline="0" dirty="0">
                <a:ln>
                  <a:noFill/>
                </a:ln>
                <a:solidFill>
                  <a:schemeClr val="tx1"/>
                </a:solidFill>
                <a:effectLst/>
                <a:latin typeface="Arial" panose="020B0604020202020204" pitchFamily="34" charset="0"/>
              </a:rPr>
              <a:t>Easy</a:t>
            </a:r>
            <a:r>
              <a:rPr kumimoji="0" lang="en-US" altLang="en-US" sz="2200" b="0" i="0" u="none" strike="noStrike" cap="none" normalizeH="0" baseline="0" dirty="0">
                <a:ln>
                  <a:noFill/>
                </a:ln>
                <a:solidFill>
                  <a:schemeClr val="tx1"/>
                </a:solidFill>
                <a:effectLst/>
                <a:latin typeface="Arial" panose="020B0604020202020204" pitchFamily="34" charset="0"/>
              </a:rPr>
              <a:t>, </a:t>
            </a:r>
            <a:r>
              <a:rPr kumimoji="0" lang="en-US" altLang="en-US" sz="2200" b="1" i="0" u="none" strike="noStrike" cap="none" normalizeH="0" baseline="0" dirty="0">
                <a:ln>
                  <a:noFill/>
                </a:ln>
                <a:solidFill>
                  <a:schemeClr val="tx1"/>
                </a:solidFill>
                <a:effectLst/>
                <a:latin typeface="Arial" panose="020B0604020202020204" pitchFamily="34" charset="0"/>
              </a:rPr>
              <a:t>Medium</a:t>
            </a:r>
            <a:r>
              <a:rPr kumimoji="0" lang="en-US" altLang="en-US" sz="2200" b="0" i="0" u="none" strike="noStrike" cap="none" normalizeH="0" baseline="0" dirty="0">
                <a:ln>
                  <a:noFill/>
                </a:ln>
                <a:solidFill>
                  <a:schemeClr val="tx1"/>
                </a:solidFill>
                <a:effectLst/>
                <a:latin typeface="Arial" panose="020B0604020202020204" pitchFamily="34" charset="0"/>
              </a:rPr>
              <a:t>, or </a:t>
            </a:r>
            <a:r>
              <a:rPr kumimoji="0" lang="en-US" altLang="en-US" sz="2200" b="1" i="0" u="none" strike="noStrike" cap="none" normalizeH="0" baseline="0" dirty="0">
                <a:ln>
                  <a:noFill/>
                </a:ln>
                <a:solidFill>
                  <a:schemeClr val="tx1"/>
                </a:solidFill>
                <a:effectLst/>
                <a:latin typeface="Arial" panose="020B0604020202020204" pitchFamily="34" charset="0"/>
              </a:rPr>
              <a:t>Difficult</a:t>
            </a:r>
            <a:r>
              <a:rPr kumimoji="0" lang="en-US" altLang="en-US" sz="2200" b="0" i="0" u="none" strike="noStrike" cap="none" normalizeH="0" baseline="0" dirty="0">
                <a:ln>
                  <a:noFill/>
                </a:ln>
                <a:solidFill>
                  <a:schemeClr val="tx1"/>
                </a:solidFill>
                <a:effectLst/>
                <a:latin typeface="Arial" panose="020B0604020202020204" pitchFamily="34" charset="0"/>
              </a:rPr>
              <a:t>, enabling teams 	to focus resources proactively.</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200" b="1" i="0" u="none" strike="noStrike" cap="none" normalizeH="0" baseline="0" dirty="0">
                <a:ln>
                  <a:noFill/>
                </a:ln>
                <a:solidFill>
                  <a:schemeClr val="tx1"/>
                </a:solidFill>
                <a:effectLst/>
                <a:latin typeface="Arial" panose="020B0604020202020204" pitchFamily="34" charset="0"/>
              </a:rPr>
              <a:t>5️⃣ Insights &amp; Recommendations:</a:t>
            </a:r>
            <a:br>
              <a:rPr kumimoji="0" lang="en-US" altLang="en-US" sz="2200" b="0" i="0" u="none" strike="noStrike" cap="none" normalizeH="0" baseline="0" dirty="0">
                <a:ln>
                  <a:noFill/>
                </a:ln>
                <a:solidFill>
                  <a:schemeClr val="tx1"/>
                </a:solidFill>
                <a:effectLst/>
                <a:latin typeface="Arial" panose="020B0604020202020204" pitchFamily="34" charset="0"/>
              </a:rPr>
            </a:br>
            <a:r>
              <a:rPr kumimoji="0" lang="en-US" altLang="en-US" sz="2200" b="0" i="0" u="none" strike="noStrike" cap="none" normalizeH="0" baseline="0" dirty="0">
                <a:ln>
                  <a:noFill/>
                </a:ln>
                <a:solidFill>
                  <a:schemeClr val="tx1"/>
                </a:solidFill>
                <a:effectLst/>
                <a:latin typeface="Arial" panose="020B0604020202020204" pitchFamily="34" charset="0"/>
              </a:rPr>
              <a:t>	Highlighted flights and destinations that consistently show higher complexity, supporting 	</a:t>
            </a:r>
            <a:r>
              <a:rPr kumimoji="0" lang="en-US" altLang="en-US" sz="2200" b="1" i="0" u="none" strike="noStrike" cap="none" normalizeH="0" baseline="0" dirty="0">
                <a:ln>
                  <a:noFill/>
                </a:ln>
                <a:solidFill>
                  <a:schemeClr val="tx1"/>
                </a:solidFill>
                <a:effectLst/>
                <a:latin typeface="Arial" panose="020B0604020202020204" pitchFamily="34" charset="0"/>
              </a:rPr>
              <a:t>better planning and decision-making</a:t>
            </a:r>
            <a:r>
              <a:rPr kumimoji="0" lang="en-US" altLang="en-US" sz="22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38882106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A15C96-094A-F7DB-A96B-9291B6E002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60249" y="0"/>
            <a:ext cx="9871502" cy="6858000"/>
          </a:xfrm>
          <a:prstGeom prst="rect">
            <a:avLst/>
          </a:prstGeom>
          <a:noFill/>
        </p:spPr>
      </p:pic>
    </p:spTree>
    <p:extLst>
      <p:ext uri="{BB962C8B-B14F-4D97-AF65-F5344CB8AC3E}">
        <p14:creationId xmlns:p14="http://schemas.microsoft.com/office/powerpoint/2010/main" val="18851392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AA888-699B-E8B1-BF01-EB085B82B485}"/>
              </a:ext>
            </a:extLst>
          </p:cNvPr>
          <p:cNvSpPr>
            <a:spLocks noGrp="1"/>
          </p:cNvSpPr>
          <p:nvPr>
            <p:ph type="title"/>
          </p:nvPr>
        </p:nvSpPr>
        <p:spPr>
          <a:xfrm>
            <a:off x="2106930" y="2342515"/>
            <a:ext cx="10515600" cy="1325563"/>
          </a:xfrm>
        </p:spPr>
        <p:txBody>
          <a:bodyPr>
            <a:normAutofit/>
          </a:bodyPr>
          <a:lstStyle/>
          <a:p>
            <a:r>
              <a:rPr lang="en-IN" sz="7200" b="1" u="sng" dirty="0"/>
              <a:t>FLIGHT LEVEL DATA</a:t>
            </a:r>
          </a:p>
        </p:txBody>
      </p:sp>
      <p:sp>
        <p:nvSpPr>
          <p:cNvPr id="3" name="TextBox 2">
            <a:extLst>
              <a:ext uri="{FF2B5EF4-FFF2-40B4-BE49-F238E27FC236}">
                <a16:creationId xmlns:a16="http://schemas.microsoft.com/office/drawing/2014/main" id="{0116A08B-9D1E-F7D0-DE56-EDD8AD92EA54}"/>
              </a:ext>
            </a:extLst>
          </p:cNvPr>
          <p:cNvSpPr txBox="1"/>
          <p:nvPr/>
        </p:nvSpPr>
        <p:spPr>
          <a:xfrm>
            <a:off x="4035621" y="3668078"/>
            <a:ext cx="3618298" cy="769441"/>
          </a:xfrm>
          <a:prstGeom prst="rect">
            <a:avLst/>
          </a:prstGeom>
          <a:noFill/>
        </p:spPr>
        <p:txBody>
          <a:bodyPr wrap="none" rtlCol="0">
            <a:spAutoFit/>
          </a:bodyPr>
          <a:lstStyle/>
          <a:p>
            <a:r>
              <a:rPr lang="en-IN" sz="4400" dirty="0">
                <a:hlinkClick r:id="rId2"/>
              </a:rPr>
              <a:t>Link to Dataset</a:t>
            </a:r>
            <a:endParaRPr lang="en-IN" sz="4400" dirty="0"/>
          </a:p>
        </p:txBody>
      </p:sp>
    </p:spTree>
    <p:extLst>
      <p:ext uri="{BB962C8B-B14F-4D97-AF65-F5344CB8AC3E}">
        <p14:creationId xmlns:p14="http://schemas.microsoft.com/office/powerpoint/2010/main" val="19041174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F3E6A02-81BE-08A0-132B-86B7CB63EE5C}"/>
              </a:ext>
            </a:extLst>
          </p:cNvPr>
          <p:cNvSpPr txBox="1"/>
          <p:nvPr/>
        </p:nvSpPr>
        <p:spPr>
          <a:xfrm>
            <a:off x="219919" y="254642"/>
            <a:ext cx="6933235" cy="2123658"/>
          </a:xfrm>
          <a:prstGeom prst="rect">
            <a:avLst/>
          </a:prstGeom>
          <a:noFill/>
        </p:spPr>
        <p:txBody>
          <a:bodyPr wrap="square" rtlCol="0">
            <a:spAutoFit/>
          </a:bodyPr>
          <a:lstStyle/>
          <a:p>
            <a:r>
              <a:rPr lang="en-IN" sz="6600" dirty="0"/>
              <a:t>No Missing Value In flight Level dataset</a:t>
            </a:r>
          </a:p>
        </p:txBody>
      </p:sp>
      <p:pic>
        <p:nvPicPr>
          <p:cNvPr id="4" name="Picture 3">
            <a:extLst>
              <a:ext uri="{FF2B5EF4-FFF2-40B4-BE49-F238E27FC236}">
                <a16:creationId xmlns:a16="http://schemas.microsoft.com/office/drawing/2014/main" id="{A5BB682F-3706-29B7-97E5-F082390156B2}"/>
              </a:ext>
            </a:extLst>
          </p:cNvPr>
          <p:cNvPicPr>
            <a:picLocks noChangeAspect="1"/>
          </p:cNvPicPr>
          <p:nvPr/>
        </p:nvPicPr>
        <p:blipFill>
          <a:blip r:embed="rId2"/>
          <a:stretch>
            <a:fillRect/>
          </a:stretch>
        </p:blipFill>
        <p:spPr>
          <a:xfrm>
            <a:off x="7153154" y="-74839"/>
            <a:ext cx="5038845" cy="6932839"/>
          </a:xfrm>
          <a:prstGeom prst="rect">
            <a:avLst/>
          </a:prstGeom>
        </p:spPr>
      </p:pic>
      <p:pic>
        <p:nvPicPr>
          <p:cNvPr id="6" name="Picture 5">
            <a:extLst>
              <a:ext uri="{FF2B5EF4-FFF2-40B4-BE49-F238E27FC236}">
                <a16:creationId xmlns:a16="http://schemas.microsoft.com/office/drawing/2014/main" id="{1C8B4D7C-577B-5100-51BD-BA1ADF1D43B4}"/>
              </a:ext>
            </a:extLst>
          </p:cNvPr>
          <p:cNvPicPr>
            <a:picLocks noChangeAspect="1"/>
          </p:cNvPicPr>
          <p:nvPr/>
        </p:nvPicPr>
        <p:blipFill>
          <a:blip r:embed="rId3"/>
          <a:stretch>
            <a:fillRect/>
          </a:stretch>
        </p:blipFill>
        <p:spPr>
          <a:xfrm>
            <a:off x="137124" y="3120158"/>
            <a:ext cx="4648849" cy="895475"/>
          </a:xfrm>
          <a:prstGeom prst="rect">
            <a:avLst/>
          </a:prstGeom>
        </p:spPr>
      </p:pic>
      <p:pic>
        <p:nvPicPr>
          <p:cNvPr id="8" name="Picture 7">
            <a:extLst>
              <a:ext uri="{FF2B5EF4-FFF2-40B4-BE49-F238E27FC236}">
                <a16:creationId xmlns:a16="http://schemas.microsoft.com/office/drawing/2014/main" id="{7D95DE6A-A808-C36C-7EBB-BD7D5A7DF201}"/>
              </a:ext>
            </a:extLst>
          </p:cNvPr>
          <p:cNvPicPr>
            <a:picLocks noChangeAspect="1"/>
          </p:cNvPicPr>
          <p:nvPr/>
        </p:nvPicPr>
        <p:blipFill>
          <a:blip r:embed="rId4"/>
          <a:stretch>
            <a:fillRect/>
          </a:stretch>
        </p:blipFill>
        <p:spPr>
          <a:xfrm>
            <a:off x="219919" y="4300227"/>
            <a:ext cx="3600953" cy="914528"/>
          </a:xfrm>
          <a:prstGeom prst="rect">
            <a:avLst/>
          </a:prstGeom>
        </p:spPr>
      </p:pic>
    </p:spTree>
    <p:extLst>
      <p:ext uri="{BB962C8B-B14F-4D97-AF65-F5344CB8AC3E}">
        <p14:creationId xmlns:p14="http://schemas.microsoft.com/office/powerpoint/2010/main" val="6081441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F769D91-8DE7-0802-61CE-BA799BFF09B1}"/>
              </a:ext>
            </a:extLst>
          </p:cNvPr>
          <p:cNvPicPr>
            <a:picLocks noChangeAspect="1"/>
          </p:cNvPicPr>
          <p:nvPr/>
        </p:nvPicPr>
        <p:blipFill>
          <a:blip r:embed="rId2"/>
          <a:stretch>
            <a:fillRect/>
          </a:stretch>
        </p:blipFill>
        <p:spPr>
          <a:xfrm>
            <a:off x="994650" y="2148250"/>
            <a:ext cx="10202699" cy="4229690"/>
          </a:xfrm>
          <a:prstGeom prst="rect">
            <a:avLst/>
          </a:prstGeom>
        </p:spPr>
      </p:pic>
      <p:sp>
        <p:nvSpPr>
          <p:cNvPr id="8" name="TextBox 7">
            <a:extLst>
              <a:ext uri="{FF2B5EF4-FFF2-40B4-BE49-F238E27FC236}">
                <a16:creationId xmlns:a16="http://schemas.microsoft.com/office/drawing/2014/main" id="{4CA140EB-6F13-6C83-A692-5CD4D396E0CB}"/>
              </a:ext>
            </a:extLst>
          </p:cNvPr>
          <p:cNvSpPr txBox="1"/>
          <p:nvPr/>
        </p:nvSpPr>
        <p:spPr>
          <a:xfrm>
            <a:off x="941015" y="480060"/>
            <a:ext cx="10498387" cy="1015663"/>
          </a:xfrm>
          <a:prstGeom prst="rect">
            <a:avLst/>
          </a:prstGeom>
          <a:noFill/>
        </p:spPr>
        <p:txBody>
          <a:bodyPr wrap="none" rtlCol="0">
            <a:spAutoFit/>
          </a:bodyPr>
          <a:lstStyle/>
          <a:p>
            <a:r>
              <a:rPr lang="en-IN" sz="6000" b="1" u="sng" dirty="0"/>
              <a:t>Deriving the new delay Features</a:t>
            </a:r>
          </a:p>
        </p:txBody>
      </p:sp>
    </p:spTree>
    <p:extLst>
      <p:ext uri="{BB962C8B-B14F-4D97-AF65-F5344CB8AC3E}">
        <p14:creationId xmlns:p14="http://schemas.microsoft.com/office/powerpoint/2010/main" val="29544077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8972926-7FC4-C757-C0E1-22C6A366A95E}"/>
              </a:ext>
            </a:extLst>
          </p:cNvPr>
          <p:cNvPicPr>
            <a:picLocks noChangeAspect="1"/>
          </p:cNvPicPr>
          <p:nvPr/>
        </p:nvPicPr>
        <p:blipFill>
          <a:blip r:embed="rId2"/>
          <a:stretch>
            <a:fillRect/>
          </a:stretch>
        </p:blipFill>
        <p:spPr>
          <a:xfrm>
            <a:off x="422107" y="2313344"/>
            <a:ext cx="11507806" cy="3991532"/>
          </a:xfrm>
          <a:prstGeom prst="rect">
            <a:avLst/>
          </a:prstGeom>
        </p:spPr>
      </p:pic>
      <p:sp>
        <p:nvSpPr>
          <p:cNvPr id="4" name="TextBox 3">
            <a:extLst>
              <a:ext uri="{FF2B5EF4-FFF2-40B4-BE49-F238E27FC236}">
                <a16:creationId xmlns:a16="http://schemas.microsoft.com/office/drawing/2014/main" id="{65DBBD39-890B-8EA0-37FF-02320CB64DDF}"/>
              </a:ext>
            </a:extLst>
          </p:cNvPr>
          <p:cNvSpPr txBox="1"/>
          <p:nvPr/>
        </p:nvSpPr>
        <p:spPr>
          <a:xfrm>
            <a:off x="1485900" y="754380"/>
            <a:ext cx="9137438" cy="769441"/>
          </a:xfrm>
          <a:prstGeom prst="rect">
            <a:avLst/>
          </a:prstGeom>
          <a:noFill/>
        </p:spPr>
        <p:txBody>
          <a:bodyPr wrap="none" rtlCol="0">
            <a:spAutoFit/>
          </a:bodyPr>
          <a:lstStyle/>
          <a:p>
            <a:r>
              <a:rPr lang="en-IN" sz="4400" b="1" u="sng" dirty="0"/>
              <a:t>Deriving the ratios due to Groundtime</a:t>
            </a:r>
          </a:p>
        </p:txBody>
      </p:sp>
    </p:spTree>
    <p:extLst>
      <p:ext uri="{BB962C8B-B14F-4D97-AF65-F5344CB8AC3E}">
        <p14:creationId xmlns:p14="http://schemas.microsoft.com/office/powerpoint/2010/main" val="7373401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B2FC911-41C0-3CC4-6FDF-EE18FCEA969F}"/>
              </a:ext>
            </a:extLst>
          </p:cNvPr>
          <p:cNvPicPr>
            <a:picLocks noChangeAspect="1"/>
          </p:cNvPicPr>
          <p:nvPr/>
        </p:nvPicPr>
        <p:blipFill>
          <a:blip r:embed="rId2"/>
          <a:stretch>
            <a:fillRect/>
          </a:stretch>
        </p:blipFill>
        <p:spPr>
          <a:xfrm>
            <a:off x="4701610" y="1178303"/>
            <a:ext cx="7490390" cy="5679697"/>
          </a:xfrm>
          <a:prstGeom prst="rect">
            <a:avLst/>
          </a:prstGeom>
        </p:spPr>
      </p:pic>
      <p:sp>
        <p:nvSpPr>
          <p:cNvPr id="6" name="TextBox 5">
            <a:extLst>
              <a:ext uri="{FF2B5EF4-FFF2-40B4-BE49-F238E27FC236}">
                <a16:creationId xmlns:a16="http://schemas.microsoft.com/office/drawing/2014/main" id="{1B2EDCB0-5D73-D8A8-15D9-3053928F1B2A}"/>
              </a:ext>
            </a:extLst>
          </p:cNvPr>
          <p:cNvSpPr txBox="1"/>
          <p:nvPr/>
        </p:nvSpPr>
        <p:spPr>
          <a:xfrm>
            <a:off x="262544" y="228600"/>
            <a:ext cx="11666912" cy="769441"/>
          </a:xfrm>
          <a:prstGeom prst="rect">
            <a:avLst/>
          </a:prstGeom>
          <a:noFill/>
        </p:spPr>
        <p:txBody>
          <a:bodyPr wrap="none" rtlCol="0">
            <a:spAutoFit/>
          </a:bodyPr>
          <a:lstStyle/>
          <a:p>
            <a:r>
              <a:rPr lang="en-IN" sz="4400" b="1" u="sng" dirty="0"/>
              <a:t>Visualization of departure Delay v/s Arrival Delay</a:t>
            </a:r>
          </a:p>
        </p:txBody>
      </p:sp>
      <p:sp>
        <p:nvSpPr>
          <p:cNvPr id="7" name="TextBox 6">
            <a:extLst>
              <a:ext uri="{FF2B5EF4-FFF2-40B4-BE49-F238E27FC236}">
                <a16:creationId xmlns:a16="http://schemas.microsoft.com/office/drawing/2014/main" id="{54DCD815-4680-A9B5-A1DF-CA21CFF780F2}"/>
              </a:ext>
            </a:extLst>
          </p:cNvPr>
          <p:cNvSpPr txBox="1"/>
          <p:nvPr/>
        </p:nvSpPr>
        <p:spPr>
          <a:xfrm>
            <a:off x="1" y="2121174"/>
            <a:ext cx="4701610" cy="954107"/>
          </a:xfrm>
          <a:prstGeom prst="rect">
            <a:avLst/>
          </a:prstGeom>
          <a:noFill/>
        </p:spPr>
        <p:txBody>
          <a:bodyPr wrap="square" rtlCol="0">
            <a:spAutoFit/>
          </a:bodyPr>
          <a:lstStyle/>
          <a:p>
            <a:r>
              <a:rPr lang="en-IN" sz="2800" dirty="0"/>
              <a:t>Departure delay and Arrival Delay has Linear relationship </a:t>
            </a:r>
          </a:p>
        </p:txBody>
      </p:sp>
      <p:sp>
        <p:nvSpPr>
          <p:cNvPr id="8" name="TextBox 7">
            <a:extLst>
              <a:ext uri="{FF2B5EF4-FFF2-40B4-BE49-F238E27FC236}">
                <a16:creationId xmlns:a16="http://schemas.microsoft.com/office/drawing/2014/main" id="{D273EFBE-C153-AD1E-A65A-43E3243E31B2}"/>
              </a:ext>
            </a:extLst>
          </p:cNvPr>
          <p:cNvSpPr txBox="1"/>
          <p:nvPr/>
        </p:nvSpPr>
        <p:spPr>
          <a:xfrm>
            <a:off x="205026" y="3880991"/>
            <a:ext cx="3523722" cy="1200329"/>
          </a:xfrm>
          <a:prstGeom prst="rect">
            <a:avLst/>
          </a:prstGeom>
          <a:noFill/>
        </p:spPr>
        <p:txBody>
          <a:bodyPr wrap="none" rtlCol="0">
            <a:spAutoFit/>
          </a:bodyPr>
          <a:lstStyle/>
          <a:p>
            <a:r>
              <a:rPr lang="en-IN" sz="2400" b="1" dirty="0"/>
              <a:t>Conclusion – </a:t>
            </a:r>
          </a:p>
          <a:p>
            <a:r>
              <a:rPr lang="en-IN" sz="2400" dirty="0"/>
              <a:t>Departing late will leads to</a:t>
            </a:r>
          </a:p>
          <a:p>
            <a:r>
              <a:rPr lang="en-IN" sz="2400" dirty="0"/>
              <a:t>Arriving late</a:t>
            </a:r>
          </a:p>
        </p:txBody>
      </p:sp>
    </p:spTree>
    <p:extLst>
      <p:ext uri="{BB962C8B-B14F-4D97-AF65-F5344CB8AC3E}">
        <p14:creationId xmlns:p14="http://schemas.microsoft.com/office/powerpoint/2010/main" val="8449190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99431B7-C377-8225-741E-BEF1FD87ACA1}"/>
              </a:ext>
            </a:extLst>
          </p:cNvPr>
          <p:cNvPicPr>
            <a:picLocks noChangeAspect="1"/>
          </p:cNvPicPr>
          <p:nvPr/>
        </p:nvPicPr>
        <p:blipFill>
          <a:blip r:embed="rId2"/>
          <a:stretch>
            <a:fillRect/>
          </a:stretch>
        </p:blipFill>
        <p:spPr>
          <a:xfrm>
            <a:off x="0" y="0"/>
            <a:ext cx="9840698" cy="1981477"/>
          </a:xfrm>
          <a:prstGeom prst="rect">
            <a:avLst/>
          </a:prstGeom>
        </p:spPr>
      </p:pic>
      <p:pic>
        <p:nvPicPr>
          <p:cNvPr id="3074" name="Picture 2">
            <a:extLst>
              <a:ext uri="{FF2B5EF4-FFF2-40B4-BE49-F238E27FC236}">
                <a16:creationId xmlns:a16="http://schemas.microsoft.com/office/drawing/2014/main" id="{F0DD0087-0312-E7C8-4927-B0105A2604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99322" y="1388962"/>
            <a:ext cx="7263094" cy="555006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0AFBA10-0D5F-DE2B-8592-C366E4CBEA09}"/>
              </a:ext>
            </a:extLst>
          </p:cNvPr>
          <p:cNvSpPr txBox="1"/>
          <p:nvPr/>
        </p:nvSpPr>
        <p:spPr>
          <a:xfrm>
            <a:off x="320040" y="2721312"/>
            <a:ext cx="4480560" cy="3477875"/>
          </a:xfrm>
          <a:prstGeom prst="rect">
            <a:avLst/>
          </a:prstGeom>
          <a:noFill/>
        </p:spPr>
        <p:txBody>
          <a:bodyPr wrap="square" rtlCol="0">
            <a:spAutoFit/>
          </a:bodyPr>
          <a:lstStyle/>
          <a:p>
            <a:r>
              <a:rPr lang="en-IN" sz="4400" b="1" u="sng" dirty="0"/>
              <a:t>How each groundtime features are correlated with others</a:t>
            </a:r>
          </a:p>
        </p:txBody>
      </p:sp>
    </p:spTree>
    <p:extLst>
      <p:ext uri="{BB962C8B-B14F-4D97-AF65-F5344CB8AC3E}">
        <p14:creationId xmlns:p14="http://schemas.microsoft.com/office/powerpoint/2010/main" val="3077501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404DFD3-F1AE-DC3C-8CC2-0ED6F297DC85}"/>
              </a:ext>
            </a:extLst>
          </p:cNvPr>
          <p:cNvPicPr>
            <a:picLocks noChangeAspect="1"/>
          </p:cNvPicPr>
          <p:nvPr/>
        </p:nvPicPr>
        <p:blipFill>
          <a:blip r:embed="rId2"/>
          <a:stretch>
            <a:fillRect/>
          </a:stretch>
        </p:blipFill>
        <p:spPr>
          <a:xfrm>
            <a:off x="0" y="3428999"/>
            <a:ext cx="12192000" cy="3156995"/>
          </a:xfrm>
          <a:prstGeom prst="rect">
            <a:avLst/>
          </a:prstGeom>
        </p:spPr>
      </p:pic>
      <p:sp>
        <p:nvSpPr>
          <p:cNvPr id="4" name="TextBox 3">
            <a:extLst>
              <a:ext uri="{FF2B5EF4-FFF2-40B4-BE49-F238E27FC236}">
                <a16:creationId xmlns:a16="http://schemas.microsoft.com/office/drawing/2014/main" id="{E857AA50-E685-B7A1-7DD6-AB6BE58A388B}"/>
              </a:ext>
            </a:extLst>
          </p:cNvPr>
          <p:cNvSpPr txBox="1"/>
          <p:nvPr/>
        </p:nvSpPr>
        <p:spPr>
          <a:xfrm>
            <a:off x="1737360" y="272006"/>
            <a:ext cx="9023624" cy="1107996"/>
          </a:xfrm>
          <a:prstGeom prst="rect">
            <a:avLst/>
          </a:prstGeom>
          <a:noFill/>
        </p:spPr>
        <p:txBody>
          <a:bodyPr wrap="none" rtlCol="0">
            <a:spAutoFit/>
          </a:bodyPr>
          <a:lstStyle/>
          <a:p>
            <a:r>
              <a:rPr lang="en-IN" sz="6600" b="1" u="sng" dirty="0"/>
              <a:t>Delay Complexities Table</a:t>
            </a:r>
          </a:p>
        </p:txBody>
      </p:sp>
    </p:spTree>
    <p:extLst>
      <p:ext uri="{BB962C8B-B14F-4D97-AF65-F5344CB8AC3E}">
        <p14:creationId xmlns:p14="http://schemas.microsoft.com/office/powerpoint/2010/main" val="8041953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9D162-3F16-E542-FF4F-7BEB1D9EF5E4}"/>
              </a:ext>
            </a:extLst>
          </p:cNvPr>
          <p:cNvSpPr>
            <a:spLocks noGrp="1"/>
          </p:cNvSpPr>
          <p:nvPr>
            <p:ph type="title"/>
          </p:nvPr>
        </p:nvSpPr>
        <p:spPr>
          <a:xfrm>
            <a:off x="1432560" y="2616835"/>
            <a:ext cx="10515600" cy="1325563"/>
          </a:xfrm>
        </p:spPr>
        <p:txBody>
          <a:bodyPr>
            <a:normAutofit/>
          </a:bodyPr>
          <a:lstStyle/>
          <a:p>
            <a:r>
              <a:rPr lang="en-IN" sz="8000" b="1" u="sng" dirty="0"/>
              <a:t>Passengers Level Data</a:t>
            </a:r>
          </a:p>
        </p:txBody>
      </p:sp>
      <p:sp>
        <p:nvSpPr>
          <p:cNvPr id="3" name="TextBox 2">
            <a:extLst>
              <a:ext uri="{FF2B5EF4-FFF2-40B4-BE49-F238E27FC236}">
                <a16:creationId xmlns:a16="http://schemas.microsoft.com/office/drawing/2014/main" id="{FA5D3382-3A35-A9E4-F39C-56E66BE9B9F7}"/>
              </a:ext>
            </a:extLst>
          </p:cNvPr>
          <p:cNvSpPr txBox="1"/>
          <p:nvPr/>
        </p:nvSpPr>
        <p:spPr>
          <a:xfrm>
            <a:off x="3509010" y="4126230"/>
            <a:ext cx="3597652" cy="769441"/>
          </a:xfrm>
          <a:prstGeom prst="rect">
            <a:avLst/>
          </a:prstGeom>
          <a:noFill/>
        </p:spPr>
        <p:txBody>
          <a:bodyPr wrap="none" rtlCol="0">
            <a:spAutoFit/>
          </a:bodyPr>
          <a:lstStyle/>
          <a:p>
            <a:r>
              <a:rPr lang="en-IN" sz="4400" dirty="0">
                <a:hlinkClick r:id="rId2"/>
              </a:rPr>
              <a:t>Link to Dataset</a:t>
            </a:r>
            <a:endParaRPr lang="en-IN" sz="4400" dirty="0"/>
          </a:p>
        </p:txBody>
      </p:sp>
    </p:spTree>
    <p:extLst>
      <p:ext uri="{BB962C8B-B14F-4D97-AF65-F5344CB8AC3E}">
        <p14:creationId xmlns:p14="http://schemas.microsoft.com/office/powerpoint/2010/main" val="21181396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3DE98B4-6982-B63D-4893-063570A2745A}"/>
              </a:ext>
            </a:extLst>
          </p:cNvPr>
          <p:cNvPicPr>
            <a:picLocks noChangeAspect="1"/>
          </p:cNvPicPr>
          <p:nvPr/>
        </p:nvPicPr>
        <p:blipFill>
          <a:blip r:embed="rId2"/>
          <a:stretch>
            <a:fillRect/>
          </a:stretch>
        </p:blipFill>
        <p:spPr>
          <a:xfrm>
            <a:off x="0" y="254644"/>
            <a:ext cx="12192000" cy="6371920"/>
          </a:xfrm>
          <a:prstGeom prst="rect">
            <a:avLst/>
          </a:prstGeom>
        </p:spPr>
      </p:pic>
    </p:spTree>
    <p:extLst>
      <p:ext uri="{BB962C8B-B14F-4D97-AF65-F5344CB8AC3E}">
        <p14:creationId xmlns:p14="http://schemas.microsoft.com/office/powerpoint/2010/main" val="3819900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63E670C-3308-6E43-80FB-03C6CE273C6D}"/>
              </a:ext>
            </a:extLst>
          </p:cNvPr>
          <p:cNvPicPr>
            <a:picLocks noChangeAspect="1"/>
          </p:cNvPicPr>
          <p:nvPr/>
        </p:nvPicPr>
        <p:blipFill>
          <a:blip r:embed="rId2"/>
          <a:stretch>
            <a:fillRect/>
          </a:stretch>
        </p:blipFill>
        <p:spPr>
          <a:xfrm>
            <a:off x="484519" y="800100"/>
            <a:ext cx="5611481" cy="3028950"/>
          </a:xfrm>
          <a:prstGeom prst="rect">
            <a:avLst/>
          </a:prstGeom>
        </p:spPr>
      </p:pic>
      <p:pic>
        <p:nvPicPr>
          <p:cNvPr id="5" name="Picture 4">
            <a:extLst>
              <a:ext uri="{FF2B5EF4-FFF2-40B4-BE49-F238E27FC236}">
                <a16:creationId xmlns:a16="http://schemas.microsoft.com/office/drawing/2014/main" id="{9DA6C5A7-AC2D-4642-1881-61BA5C1D989B}"/>
              </a:ext>
            </a:extLst>
          </p:cNvPr>
          <p:cNvPicPr>
            <a:picLocks noChangeAspect="1"/>
          </p:cNvPicPr>
          <p:nvPr/>
        </p:nvPicPr>
        <p:blipFill>
          <a:blip r:embed="rId3"/>
          <a:stretch>
            <a:fillRect/>
          </a:stretch>
        </p:blipFill>
        <p:spPr>
          <a:xfrm>
            <a:off x="6096000" y="789532"/>
            <a:ext cx="5730669" cy="2885887"/>
          </a:xfrm>
          <a:prstGeom prst="rect">
            <a:avLst/>
          </a:prstGeom>
        </p:spPr>
      </p:pic>
      <p:pic>
        <p:nvPicPr>
          <p:cNvPr id="7" name="Picture 6">
            <a:extLst>
              <a:ext uri="{FF2B5EF4-FFF2-40B4-BE49-F238E27FC236}">
                <a16:creationId xmlns:a16="http://schemas.microsoft.com/office/drawing/2014/main" id="{85E6D63D-DEEE-7F06-54FF-71F8DD0E33A1}"/>
              </a:ext>
            </a:extLst>
          </p:cNvPr>
          <p:cNvPicPr>
            <a:picLocks noChangeAspect="1"/>
          </p:cNvPicPr>
          <p:nvPr/>
        </p:nvPicPr>
        <p:blipFill>
          <a:blip r:embed="rId4"/>
          <a:stretch>
            <a:fillRect/>
          </a:stretch>
        </p:blipFill>
        <p:spPr>
          <a:xfrm>
            <a:off x="484519" y="3829050"/>
            <a:ext cx="5611481" cy="3028950"/>
          </a:xfrm>
          <a:prstGeom prst="rect">
            <a:avLst/>
          </a:prstGeom>
        </p:spPr>
      </p:pic>
      <p:pic>
        <p:nvPicPr>
          <p:cNvPr id="9" name="Picture 8">
            <a:extLst>
              <a:ext uri="{FF2B5EF4-FFF2-40B4-BE49-F238E27FC236}">
                <a16:creationId xmlns:a16="http://schemas.microsoft.com/office/drawing/2014/main" id="{EA87852F-2CA1-540B-5E8A-38A9A3563189}"/>
              </a:ext>
            </a:extLst>
          </p:cNvPr>
          <p:cNvPicPr>
            <a:picLocks noChangeAspect="1"/>
          </p:cNvPicPr>
          <p:nvPr/>
        </p:nvPicPr>
        <p:blipFill>
          <a:blip r:embed="rId5"/>
          <a:stretch>
            <a:fillRect/>
          </a:stretch>
        </p:blipFill>
        <p:spPr>
          <a:xfrm>
            <a:off x="6040755" y="3675419"/>
            <a:ext cx="5841159" cy="3123166"/>
          </a:xfrm>
          <a:prstGeom prst="rect">
            <a:avLst/>
          </a:prstGeom>
        </p:spPr>
      </p:pic>
      <p:sp>
        <p:nvSpPr>
          <p:cNvPr id="10" name="TextBox 9">
            <a:extLst>
              <a:ext uri="{FF2B5EF4-FFF2-40B4-BE49-F238E27FC236}">
                <a16:creationId xmlns:a16="http://schemas.microsoft.com/office/drawing/2014/main" id="{888635BE-6CD3-AB23-56F8-1A76485C6BB9}"/>
              </a:ext>
            </a:extLst>
          </p:cNvPr>
          <p:cNvSpPr txBox="1"/>
          <p:nvPr/>
        </p:nvSpPr>
        <p:spPr>
          <a:xfrm>
            <a:off x="1819504" y="0"/>
            <a:ext cx="9062674" cy="769441"/>
          </a:xfrm>
          <a:prstGeom prst="rect">
            <a:avLst/>
          </a:prstGeom>
          <a:noFill/>
        </p:spPr>
        <p:txBody>
          <a:bodyPr wrap="none" rtlCol="0">
            <a:spAutoFit/>
          </a:bodyPr>
          <a:lstStyle/>
          <a:p>
            <a:r>
              <a:rPr lang="en-IN" sz="4400" b="1" u="sng" dirty="0"/>
              <a:t>Distributions of Passengers Level Data</a:t>
            </a:r>
          </a:p>
        </p:txBody>
      </p:sp>
    </p:spTree>
    <p:extLst>
      <p:ext uri="{BB962C8B-B14F-4D97-AF65-F5344CB8AC3E}">
        <p14:creationId xmlns:p14="http://schemas.microsoft.com/office/powerpoint/2010/main" val="19961832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8F8A5FA-CC30-EC06-51D4-66355699A163}"/>
              </a:ext>
            </a:extLst>
          </p:cNvPr>
          <p:cNvPicPr>
            <a:picLocks noChangeAspect="1"/>
          </p:cNvPicPr>
          <p:nvPr/>
        </p:nvPicPr>
        <p:blipFill>
          <a:blip r:embed="rId2"/>
          <a:stretch>
            <a:fillRect/>
          </a:stretch>
        </p:blipFill>
        <p:spPr>
          <a:xfrm>
            <a:off x="0" y="83482"/>
            <a:ext cx="12137238" cy="6774518"/>
          </a:xfrm>
          <a:prstGeom prst="rect">
            <a:avLst/>
          </a:prstGeom>
        </p:spPr>
      </p:pic>
    </p:spTree>
    <p:extLst>
      <p:ext uri="{BB962C8B-B14F-4D97-AF65-F5344CB8AC3E}">
        <p14:creationId xmlns:p14="http://schemas.microsoft.com/office/powerpoint/2010/main" val="5466455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A6813C6-FF86-228B-3A67-A6ADD65B7154}"/>
              </a:ext>
            </a:extLst>
          </p:cNvPr>
          <p:cNvPicPr>
            <a:picLocks noChangeAspect="1"/>
          </p:cNvPicPr>
          <p:nvPr/>
        </p:nvPicPr>
        <p:blipFill>
          <a:blip r:embed="rId2"/>
          <a:stretch>
            <a:fillRect/>
          </a:stretch>
        </p:blipFill>
        <p:spPr>
          <a:xfrm>
            <a:off x="0" y="3727048"/>
            <a:ext cx="12192000" cy="3264061"/>
          </a:xfrm>
          <a:prstGeom prst="rect">
            <a:avLst/>
          </a:prstGeom>
        </p:spPr>
      </p:pic>
      <p:pic>
        <p:nvPicPr>
          <p:cNvPr id="5" name="Picture 4">
            <a:extLst>
              <a:ext uri="{FF2B5EF4-FFF2-40B4-BE49-F238E27FC236}">
                <a16:creationId xmlns:a16="http://schemas.microsoft.com/office/drawing/2014/main" id="{D8CD955E-50C1-400D-ED27-B808FEEFBE45}"/>
              </a:ext>
            </a:extLst>
          </p:cNvPr>
          <p:cNvPicPr>
            <a:picLocks noChangeAspect="1"/>
          </p:cNvPicPr>
          <p:nvPr/>
        </p:nvPicPr>
        <p:blipFill>
          <a:blip r:embed="rId3"/>
          <a:stretch>
            <a:fillRect/>
          </a:stretch>
        </p:blipFill>
        <p:spPr>
          <a:xfrm>
            <a:off x="2753880" y="-109916"/>
            <a:ext cx="9438120" cy="3836964"/>
          </a:xfrm>
          <a:prstGeom prst="rect">
            <a:avLst/>
          </a:prstGeom>
        </p:spPr>
      </p:pic>
      <p:sp>
        <p:nvSpPr>
          <p:cNvPr id="6" name="TextBox 5">
            <a:extLst>
              <a:ext uri="{FF2B5EF4-FFF2-40B4-BE49-F238E27FC236}">
                <a16:creationId xmlns:a16="http://schemas.microsoft.com/office/drawing/2014/main" id="{8053D110-54DB-ED73-B889-4D589276F090}"/>
              </a:ext>
            </a:extLst>
          </p:cNvPr>
          <p:cNvSpPr txBox="1"/>
          <p:nvPr/>
        </p:nvSpPr>
        <p:spPr>
          <a:xfrm>
            <a:off x="194310" y="673752"/>
            <a:ext cx="2651010" cy="2246769"/>
          </a:xfrm>
          <a:prstGeom prst="rect">
            <a:avLst/>
          </a:prstGeom>
          <a:noFill/>
        </p:spPr>
        <p:txBody>
          <a:bodyPr wrap="square" rtlCol="0">
            <a:spAutoFit/>
          </a:bodyPr>
          <a:lstStyle/>
          <a:p>
            <a:r>
              <a:rPr lang="en-IN" sz="2800" b="1" u="sng" dirty="0"/>
              <a:t>Passenegr complexity Calculation and final output table</a:t>
            </a:r>
          </a:p>
        </p:txBody>
      </p:sp>
    </p:spTree>
    <p:extLst>
      <p:ext uri="{BB962C8B-B14F-4D97-AF65-F5344CB8AC3E}">
        <p14:creationId xmlns:p14="http://schemas.microsoft.com/office/powerpoint/2010/main" val="28380404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034C5-6759-AA54-A4B0-A1090BAE7CE3}"/>
              </a:ext>
            </a:extLst>
          </p:cNvPr>
          <p:cNvSpPr>
            <a:spLocks noGrp="1"/>
          </p:cNvSpPr>
          <p:nvPr>
            <p:ph type="title"/>
          </p:nvPr>
        </p:nvSpPr>
        <p:spPr>
          <a:xfrm>
            <a:off x="2564130" y="2240438"/>
            <a:ext cx="10515600" cy="1325563"/>
          </a:xfrm>
        </p:spPr>
        <p:txBody>
          <a:bodyPr>
            <a:normAutofit/>
          </a:bodyPr>
          <a:lstStyle/>
          <a:p>
            <a:r>
              <a:rPr lang="en-IN" sz="8800" b="1" u="sng" dirty="0"/>
              <a:t>Bag Level Data</a:t>
            </a:r>
          </a:p>
        </p:txBody>
      </p:sp>
      <p:sp>
        <p:nvSpPr>
          <p:cNvPr id="3" name="TextBox 2">
            <a:extLst>
              <a:ext uri="{FF2B5EF4-FFF2-40B4-BE49-F238E27FC236}">
                <a16:creationId xmlns:a16="http://schemas.microsoft.com/office/drawing/2014/main" id="{36D1AF34-B88F-D5A6-AA5D-2C6E7177264B}"/>
              </a:ext>
            </a:extLst>
          </p:cNvPr>
          <p:cNvSpPr txBox="1"/>
          <p:nvPr/>
        </p:nvSpPr>
        <p:spPr>
          <a:xfrm>
            <a:off x="4224278" y="3566001"/>
            <a:ext cx="3597652" cy="769441"/>
          </a:xfrm>
          <a:prstGeom prst="rect">
            <a:avLst/>
          </a:prstGeom>
          <a:noFill/>
        </p:spPr>
        <p:txBody>
          <a:bodyPr wrap="none" rtlCol="0">
            <a:spAutoFit/>
          </a:bodyPr>
          <a:lstStyle/>
          <a:p>
            <a:r>
              <a:rPr lang="en-IN" sz="4400" dirty="0">
                <a:hlinkClick r:id="rId2"/>
              </a:rPr>
              <a:t>Link to Dataset</a:t>
            </a:r>
            <a:endParaRPr lang="en-IN" sz="4400" dirty="0"/>
          </a:p>
        </p:txBody>
      </p:sp>
    </p:spTree>
    <p:extLst>
      <p:ext uri="{BB962C8B-B14F-4D97-AF65-F5344CB8AC3E}">
        <p14:creationId xmlns:p14="http://schemas.microsoft.com/office/powerpoint/2010/main" val="1914398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4670A78-2B10-494E-7092-B88E8B176A46}"/>
              </a:ext>
            </a:extLst>
          </p:cNvPr>
          <p:cNvPicPr>
            <a:picLocks noChangeAspect="1"/>
          </p:cNvPicPr>
          <p:nvPr/>
        </p:nvPicPr>
        <p:blipFill>
          <a:blip r:embed="rId2"/>
          <a:stretch>
            <a:fillRect/>
          </a:stretch>
        </p:blipFill>
        <p:spPr>
          <a:xfrm>
            <a:off x="0" y="180688"/>
            <a:ext cx="12355830" cy="5888642"/>
          </a:xfrm>
          <a:prstGeom prst="rect">
            <a:avLst/>
          </a:prstGeom>
        </p:spPr>
      </p:pic>
    </p:spTree>
    <p:extLst>
      <p:ext uri="{BB962C8B-B14F-4D97-AF65-F5344CB8AC3E}">
        <p14:creationId xmlns:p14="http://schemas.microsoft.com/office/powerpoint/2010/main" val="40043900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5D3F9F4-B6F8-B4D6-FF3C-B7B646B7A90C}"/>
              </a:ext>
            </a:extLst>
          </p:cNvPr>
          <p:cNvPicPr>
            <a:picLocks noChangeAspect="1"/>
          </p:cNvPicPr>
          <p:nvPr/>
        </p:nvPicPr>
        <p:blipFill>
          <a:blip r:embed="rId2"/>
          <a:stretch>
            <a:fillRect/>
          </a:stretch>
        </p:blipFill>
        <p:spPr>
          <a:xfrm>
            <a:off x="418308" y="3158918"/>
            <a:ext cx="5677692" cy="3781953"/>
          </a:xfrm>
          <a:prstGeom prst="rect">
            <a:avLst/>
          </a:prstGeom>
        </p:spPr>
      </p:pic>
      <p:pic>
        <p:nvPicPr>
          <p:cNvPr id="7" name="Picture 6">
            <a:extLst>
              <a:ext uri="{FF2B5EF4-FFF2-40B4-BE49-F238E27FC236}">
                <a16:creationId xmlns:a16="http://schemas.microsoft.com/office/drawing/2014/main" id="{B02F5703-C2D3-C9CD-87B9-F72D44DE78E1}"/>
              </a:ext>
            </a:extLst>
          </p:cNvPr>
          <p:cNvPicPr>
            <a:picLocks noChangeAspect="1"/>
          </p:cNvPicPr>
          <p:nvPr/>
        </p:nvPicPr>
        <p:blipFill>
          <a:blip r:embed="rId3"/>
          <a:stretch>
            <a:fillRect/>
          </a:stretch>
        </p:blipFill>
        <p:spPr>
          <a:xfrm>
            <a:off x="6561939" y="0"/>
            <a:ext cx="5630061" cy="3724795"/>
          </a:xfrm>
          <a:prstGeom prst="rect">
            <a:avLst/>
          </a:prstGeom>
        </p:spPr>
      </p:pic>
      <p:pic>
        <p:nvPicPr>
          <p:cNvPr id="9" name="Picture 8">
            <a:extLst>
              <a:ext uri="{FF2B5EF4-FFF2-40B4-BE49-F238E27FC236}">
                <a16:creationId xmlns:a16="http://schemas.microsoft.com/office/drawing/2014/main" id="{2F3132D7-72A2-067D-1EFE-5A530BDF6BC7}"/>
              </a:ext>
            </a:extLst>
          </p:cNvPr>
          <p:cNvPicPr>
            <a:picLocks noChangeAspect="1"/>
          </p:cNvPicPr>
          <p:nvPr/>
        </p:nvPicPr>
        <p:blipFill>
          <a:blip r:embed="rId4"/>
          <a:stretch>
            <a:fillRect/>
          </a:stretch>
        </p:blipFill>
        <p:spPr>
          <a:xfrm>
            <a:off x="7379970" y="3781953"/>
            <a:ext cx="4812030" cy="3158918"/>
          </a:xfrm>
          <a:prstGeom prst="rect">
            <a:avLst/>
          </a:prstGeom>
        </p:spPr>
      </p:pic>
      <p:sp>
        <p:nvSpPr>
          <p:cNvPr id="10" name="TextBox 9">
            <a:extLst>
              <a:ext uri="{FF2B5EF4-FFF2-40B4-BE49-F238E27FC236}">
                <a16:creationId xmlns:a16="http://schemas.microsoft.com/office/drawing/2014/main" id="{0E59EB32-F885-B109-36D8-55CFB435A940}"/>
              </a:ext>
            </a:extLst>
          </p:cNvPr>
          <p:cNvSpPr txBox="1"/>
          <p:nvPr/>
        </p:nvSpPr>
        <p:spPr>
          <a:xfrm>
            <a:off x="1" y="388620"/>
            <a:ext cx="6377939" cy="1200329"/>
          </a:xfrm>
          <a:prstGeom prst="rect">
            <a:avLst/>
          </a:prstGeom>
          <a:noFill/>
        </p:spPr>
        <p:txBody>
          <a:bodyPr wrap="square" rtlCol="0">
            <a:spAutoFit/>
          </a:bodyPr>
          <a:lstStyle/>
          <a:p>
            <a:r>
              <a:rPr lang="en-IN" sz="3600" b="1" u="sng" dirty="0"/>
              <a:t>Distributions of Different bag type per total Bags</a:t>
            </a:r>
          </a:p>
        </p:txBody>
      </p:sp>
    </p:spTree>
    <p:extLst>
      <p:ext uri="{BB962C8B-B14F-4D97-AF65-F5344CB8AC3E}">
        <p14:creationId xmlns:p14="http://schemas.microsoft.com/office/powerpoint/2010/main" val="38628455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953151A-2A38-84A6-8811-D76A4D24D3E5}"/>
              </a:ext>
            </a:extLst>
          </p:cNvPr>
          <p:cNvPicPr>
            <a:picLocks noChangeAspect="1"/>
          </p:cNvPicPr>
          <p:nvPr/>
        </p:nvPicPr>
        <p:blipFill>
          <a:blip r:embed="rId2"/>
          <a:stretch>
            <a:fillRect/>
          </a:stretch>
        </p:blipFill>
        <p:spPr>
          <a:xfrm>
            <a:off x="0" y="174967"/>
            <a:ext cx="12192000" cy="5319346"/>
          </a:xfrm>
          <a:prstGeom prst="rect">
            <a:avLst/>
          </a:prstGeom>
        </p:spPr>
      </p:pic>
    </p:spTree>
    <p:extLst>
      <p:ext uri="{BB962C8B-B14F-4D97-AF65-F5344CB8AC3E}">
        <p14:creationId xmlns:p14="http://schemas.microsoft.com/office/powerpoint/2010/main" val="10802407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1ABBCC7-E154-51CA-B086-8D38A9B65210}"/>
              </a:ext>
            </a:extLst>
          </p:cNvPr>
          <p:cNvPicPr>
            <a:picLocks noChangeAspect="1"/>
          </p:cNvPicPr>
          <p:nvPr/>
        </p:nvPicPr>
        <p:blipFill>
          <a:blip r:embed="rId2"/>
          <a:stretch>
            <a:fillRect/>
          </a:stretch>
        </p:blipFill>
        <p:spPr>
          <a:xfrm>
            <a:off x="4599515" y="844749"/>
            <a:ext cx="7592485" cy="2734057"/>
          </a:xfrm>
          <a:prstGeom prst="rect">
            <a:avLst/>
          </a:prstGeom>
        </p:spPr>
      </p:pic>
      <p:pic>
        <p:nvPicPr>
          <p:cNvPr id="5" name="Picture 4">
            <a:extLst>
              <a:ext uri="{FF2B5EF4-FFF2-40B4-BE49-F238E27FC236}">
                <a16:creationId xmlns:a16="http://schemas.microsoft.com/office/drawing/2014/main" id="{BAEC8057-2FE9-89F5-49F9-21121FA44BD5}"/>
              </a:ext>
            </a:extLst>
          </p:cNvPr>
          <p:cNvPicPr>
            <a:picLocks noChangeAspect="1"/>
          </p:cNvPicPr>
          <p:nvPr/>
        </p:nvPicPr>
        <p:blipFill>
          <a:blip r:embed="rId3"/>
          <a:stretch>
            <a:fillRect/>
          </a:stretch>
        </p:blipFill>
        <p:spPr>
          <a:xfrm>
            <a:off x="114300" y="4646222"/>
            <a:ext cx="12192000" cy="1954675"/>
          </a:xfrm>
          <a:prstGeom prst="rect">
            <a:avLst/>
          </a:prstGeom>
        </p:spPr>
      </p:pic>
      <p:sp>
        <p:nvSpPr>
          <p:cNvPr id="6" name="TextBox 5">
            <a:extLst>
              <a:ext uri="{FF2B5EF4-FFF2-40B4-BE49-F238E27FC236}">
                <a16:creationId xmlns:a16="http://schemas.microsoft.com/office/drawing/2014/main" id="{1342588F-8710-1DB8-28E9-B44ED494D13D}"/>
              </a:ext>
            </a:extLst>
          </p:cNvPr>
          <p:cNvSpPr txBox="1"/>
          <p:nvPr/>
        </p:nvSpPr>
        <p:spPr>
          <a:xfrm>
            <a:off x="320041" y="611578"/>
            <a:ext cx="4103370" cy="3200400"/>
          </a:xfrm>
          <a:prstGeom prst="rect">
            <a:avLst/>
          </a:prstGeom>
          <a:noFill/>
        </p:spPr>
        <p:txBody>
          <a:bodyPr wrap="square" rtlCol="0">
            <a:spAutoFit/>
          </a:bodyPr>
          <a:lstStyle/>
          <a:p>
            <a:r>
              <a:rPr lang="en-IN" sz="4000" b="1" u="sng" dirty="0"/>
              <a:t>Baggage complexity Calculation and final output table</a:t>
            </a:r>
          </a:p>
          <a:p>
            <a:endParaRPr lang="en-IN" sz="4000" dirty="0"/>
          </a:p>
        </p:txBody>
      </p:sp>
    </p:spTree>
    <p:extLst>
      <p:ext uri="{BB962C8B-B14F-4D97-AF65-F5344CB8AC3E}">
        <p14:creationId xmlns:p14="http://schemas.microsoft.com/office/powerpoint/2010/main" val="23860842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B131E02-0A03-AFDE-1F1C-B3CF28262F28}"/>
              </a:ext>
            </a:extLst>
          </p:cNvPr>
          <p:cNvSpPr txBox="1"/>
          <p:nvPr/>
        </p:nvSpPr>
        <p:spPr>
          <a:xfrm>
            <a:off x="982980" y="2103120"/>
            <a:ext cx="10642657" cy="1754326"/>
          </a:xfrm>
          <a:prstGeom prst="rect">
            <a:avLst/>
          </a:prstGeom>
          <a:noFill/>
        </p:spPr>
        <p:txBody>
          <a:bodyPr wrap="none" rtlCol="0">
            <a:spAutoFit/>
          </a:bodyPr>
          <a:lstStyle/>
          <a:p>
            <a:r>
              <a:rPr lang="en-IN" sz="5400" dirty="0"/>
              <a:t>Final Dataset – combined with all </a:t>
            </a:r>
          </a:p>
          <a:p>
            <a:pPr algn="ctr"/>
            <a:r>
              <a:rPr lang="en-IN" sz="5400" dirty="0"/>
              <a:t>Important Features and Complexities</a:t>
            </a:r>
          </a:p>
        </p:txBody>
      </p:sp>
      <p:sp>
        <p:nvSpPr>
          <p:cNvPr id="3" name="TextBox 2">
            <a:extLst>
              <a:ext uri="{FF2B5EF4-FFF2-40B4-BE49-F238E27FC236}">
                <a16:creationId xmlns:a16="http://schemas.microsoft.com/office/drawing/2014/main" id="{8FE71DDC-1482-5309-BAD1-E66357C393E8}"/>
              </a:ext>
            </a:extLst>
          </p:cNvPr>
          <p:cNvSpPr txBox="1"/>
          <p:nvPr/>
        </p:nvSpPr>
        <p:spPr>
          <a:xfrm>
            <a:off x="4137660" y="3966210"/>
            <a:ext cx="3297698" cy="707886"/>
          </a:xfrm>
          <a:prstGeom prst="rect">
            <a:avLst/>
          </a:prstGeom>
          <a:noFill/>
        </p:spPr>
        <p:txBody>
          <a:bodyPr wrap="none" rtlCol="0">
            <a:spAutoFit/>
          </a:bodyPr>
          <a:lstStyle/>
          <a:p>
            <a:r>
              <a:rPr lang="en-IN" sz="4000" dirty="0">
                <a:hlinkClick r:id="rId2"/>
              </a:rPr>
              <a:t>Link to Dataset</a:t>
            </a:r>
            <a:endParaRPr lang="en-IN" sz="4000" dirty="0"/>
          </a:p>
        </p:txBody>
      </p:sp>
    </p:spTree>
    <p:extLst>
      <p:ext uri="{BB962C8B-B14F-4D97-AF65-F5344CB8AC3E}">
        <p14:creationId xmlns:p14="http://schemas.microsoft.com/office/powerpoint/2010/main" val="38233001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37641B-5A59-10F5-77E7-11A7D1D00908}"/>
              </a:ext>
            </a:extLst>
          </p:cNvPr>
          <p:cNvSpPr>
            <a:spLocks noGrp="1"/>
          </p:cNvSpPr>
          <p:nvPr>
            <p:ph type="title"/>
          </p:nvPr>
        </p:nvSpPr>
        <p:spPr>
          <a:xfrm>
            <a:off x="0" y="18255"/>
            <a:ext cx="10515600" cy="1113315"/>
          </a:xfrm>
        </p:spPr>
        <p:txBody>
          <a:bodyPr/>
          <a:lstStyle/>
          <a:p>
            <a:r>
              <a:rPr lang="en-IN" dirty="0"/>
              <a:t>Flight Complexity Integration</a:t>
            </a:r>
          </a:p>
        </p:txBody>
      </p:sp>
      <p:sp>
        <p:nvSpPr>
          <p:cNvPr id="3" name="Content Placeholder 2">
            <a:extLst>
              <a:ext uri="{FF2B5EF4-FFF2-40B4-BE49-F238E27FC236}">
                <a16:creationId xmlns:a16="http://schemas.microsoft.com/office/drawing/2014/main" id="{AA663CA7-6D8C-8645-0FC6-451B18C04BFB}"/>
              </a:ext>
            </a:extLst>
          </p:cNvPr>
          <p:cNvSpPr>
            <a:spLocks noGrp="1"/>
          </p:cNvSpPr>
          <p:nvPr>
            <p:ph idx="1"/>
          </p:nvPr>
        </p:nvSpPr>
        <p:spPr>
          <a:xfrm>
            <a:off x="0" y="1028700"/>
            <a:ext cx="12192000" cy="5920740"/>
          </a:xfrm>
        </p:spPr>
        <p:txBody>
          <a:bodyPr>
            <a:normAutofit lnSpcReduction="10000"/>
          </a:bodyPr>
          <a:lstStyle/>
          <a:p>
            <a:r>
              <a:rPr lang="en-GB" dirty="0"/>
              <a:t>We combined three key aspects — </a:t>
            </a:r>
            <a:r>
              <a:rPr lang="en-GB" b="1" dirty="0"/>
              <a:t>delay</a:t>
            </a:r>
            <a:r>
              <a:rPr lang="en-GB" dirty="0"/>
              <a:t>, </a:t>
            </a:r>
            <a:r>
              <a:rPr lang="en-GB" b="1" dirty="0"/>
              <a:t>passenger</a:t>
            </a:r>
            <a:r>
              <a:rPr lang="en-GB" dirty="0"/>
              <a:t>, and </a:t>
            </a:r>
            <a:r>
              <a:rPr lang="en-GB" b="1" dirty="0"/>
              <a:t>baggage</a:t>
            </a:r>
            <a:r>
              <a:rPr lang="en-GB" dirty="0"/>
              <a:t> — into one overall complexity score to identify the most challenging flights.</a:t>
            </a:r>
          </a:p>
          <a:p>
            <a:r>
              <a:rPr lang="en-GB" b="1" dirty="0"/>
              <a:t>What we did:</a:t>
            </a:r>
            <a:br>
              <a:rPr lang="en-GB" dirty="0"/>
            </a:br>
            <a:r>
              <a:rPr lang="en-GB" dirty="0"/>
              <a:t>Merged flight, passenger, and bag datasets using 5 common keys and filled missing values to ensure complete data for each flight.</a:t>
            </a:r>
          </a:p>
          <a:p>
            <a:r>
              <a:rPr lang="en-GB" b="1" dirty="0"/>
              <a:t>Why we did it:</a:t>
            </a:r>
            <a:br>
              <a:rPr lang="en-GB" dirty="0"/>
            </a:br>
            <a:r>
              <a:rPr lang="en-GB" dirty="0"/>
              <a:t>Each dataset highlights a unique challenge — delay (operational), passenger (load &amp; service), and baggage (handling difficulty).</a:t>
            </a:r>
            <a:br>
              <a:rPr lang="en-GB" dirty="0"/>
            </a:br>
            <a:r>
              <a:rPr lang="en-GB" dirty="0"/>
              <a:t>Merging them gives a </a:t>
            </a:r>
            <a:r>
              <a:rPr lang="en-GB" b="1" dirty="0"/>
              <a:t>complete picture</a:t>
            </a:r>
            <a:r>
              <a:rPr lang="en-GB" dirty="0"/>
              <a:t> of flight difficulty.</a:t>
            </a:r>
          </a:p>
          <a:p>
            <a:r>
              <a:rPr lang="en-GB" b="1" dirty="0"/>
              <a:t>How we calculated:</a:t>
            </a:r>
            <a:br>
              <a:rPr lang="en-GB" dirty="0"/>
            </a:br>
            <a:r>
              <a:rPr lang="en-GB" dirty="0"/>
              <a:t>Assigned weights to each component:</a:t>
            </a:r>
          </a:p>
          <a:p>
            <a:pPr lvl="1"/>
            <a:r>
              <a:rPr lang="en-GB" dirty="0"/>
              <a:t>Delay → 45%</a:t>
            </a:r>
          </a:p>
          <a:p>
            <a:pPr lvl="1"/>
            <a:r>
              <a:rPr lang="en-GB" dirty="0"/>
              <a:t>Passenger → 35%</a:t>
            </a:r>
          </a:p>
          <a:p>
            <a:pPr lvl="1"/>
            <a:r>
              <a:rPr lang="en-GB" dirty="0"/>
              <a:t>Baggage → 20%</a:t>
            </a:r>
            <a:br>
              <a:rPr lang="en-GB" dirty="0"/>
            </a:br>
            <a:r>
              <a:rPr lang="en-GB" dirty="0"/>
              <a:t>The combined score (</a:t>
            </a:r>
            <a:r>
              <a:rPr lang="en-GB" dirty="0" err="1"/>
              <a:t>overall_flight_complexity</a:t>
            </a:r>
            <a:r>
              <a:rPr lang="en-GB" dirty="0"/>
              <a:t>) helps </a:t>
            </a:r>
            <a:r>
              <a:rPr lang="en-GB" b="1" dirty="0"/>
              <a:t>rank and analyse flights</a:t>
            </a:r>
            <a:r>
              <a:rPr lang="en-GB" dirty="0"/>
              <a:t> by difficulty.</a:t>
            </a:r>
          </a:p>
          <a:p>
            <a:pPr marL="0" indent="0">
              <a:buNone/>
            </a:pPr>
            <a:endParaRPr lang="en-IN" dirty="0"/>
          </a:p>
        </p:txBody>
      </p:sp>
    </p:spTree>
    <p:extLst>
      <p:ext uri="{BB962C8B-B14F-4D97-AF65-F5344CB8AC3E}">
        <p14:creationId xmlns:p14="http://schemas.microsoft.com/office/powerpoint/2010/main" val="20722596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7BB42-2AF0-DD73-757B-D7BC8B93F299}"/>
              </a:ext>
            </a:extLst>
          </p:cNvPr>
          <p:cNvSpPr>
            <a:spLocks noGrp="1"/>
          </p:cNvSpPr>
          <p:nvPr>
            <p:ph type="title"/>
          </p:nvPr>
        </p:nvSpPr>
        <p:spPr>
          <a:xfrm>
            <a:off x="0" y="18255"/>
            <a:ext cx="10515600" cy="953295"/>
          </a:xfrm>
        </p:spPr>
        <p:txBody>
          <a:bodyPr/>
          <a:lstStyle/>
          <a:p>
            <a:r>
              <a:rPr lang="en-IN" dirty="0"/>
              <a:t>Classification of Complexities and Distribution</a:t>
            </a:r>
          </a:p>
        </p:txBody>
      </p:sp>
      <p:pic>
        <p:nvPicPr>
          <p:cNvPr id="6" name="Content Placeholder 5">
            <a:extLst>
              <a:ext uri="{FF2B5EF4-FFF2-40B4-BE49-F238E27FC236}">
                <a16:creationId xmlns:a16="http://schemas.microsoft.com/office/drawing/2014/main" id="{97637708-9E41-80E1-C9E8-FF8DFDF6B2E7}"/>
              </a:ext>
            </a:extLst>
          </p:cNvPr>
          <p:cNvPicPr>
            <a:picLocks noGrp="1" noChangeAspect="1"/>
          </p:cNvPicPr>
          <p:nvPr>
            <p:ph sz="half" idx="1"/>
          </p:nvPr>
        </p:nvPicPr>
        <p:blipFill>
          <a:blip r:embed="rId2"/>
          <a:stretch>
            <a:fillRect/>
          </a:stretch>
        </p:blipFill>
        <p:spPr>
          <a:xfrm>
            <a:off x="80011" y="1428751"/>
            <a:ext cx="5939790" cy="5064124"/>
          </a:xfrm>
          <a:prstGeom prst="rect">
            <a:avLst/>
          </a:prstGeom>
        </p:spPr>
      </p:pic>
      <p:pic>
        <p:nvPicPr>
          <p:cNvPr id="5122" name="Picture 2">
            <a:extLst>
              <a:ext uri="{FF2B5EF4-FFF2-40B4-BE49-F238E27FC236}">
                <a16:creationId xmlns:a16="http://schemas.microsoft.com/office/drawing/2014/main" id="{9A93A7BF-C1E0-A5E8-24C4-D3AD4EFB4284}"/>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6019800" y="1076737"/>
            <a:ext cx="6172199" cy="57630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81807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6146" name="Picture 2">
            <a:extLst>
              <a:ext uri="{FF2B5EF4-FFF2-40B4-BE49-F238E27FC236}">
                <a16:creationId xmlns:a16="http://schemas.microsoft.com/office/drawing/2014/main" id="{283E882E-BD3D-CD5F-A879-B0C858B0C0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29075" y="457200"/>
            <a:ext cx="8162925" cy="59436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31EB4A26-5C10-CC0F-8F51-0C9151F5BEF6}"/>
              </a:ext>
            </a:extLst>
          </p:cNvPr>
          <p:cNvSpPr txBox="1"/>
          <p:nvPr/>
        </p:nvSpPr>
        <p:spPr>
          <a:xfrm>
            <a:off x="365760" y="217170"/>
            <a:ext cx="3554729" cy="2062103"/>
          </a:xfrm>
          <a:prstGeom prst="rect">
            <a:avLst/>
          </a:prstGeom>
          <a:noFill/>
        </p:spPr>
        <p:txBody>
          <a:bodyPr wrap="square" rtlCol="0">
            <a:spAutoFit/>
          </a:bodyPr>
          <a:lstStyle/>
          <a:p>
            <a:r>
              <a:rPr lang="en-IN" sz="3200" b="1" u="sng" dirty="0"/>
              <a:t>Clustering of different flights based on different complexities</a:t>
            </a:r>
          </a:p>
        </p:txBody>
      </p:sp>
      <p:sp>
        <p:nvSpPr>
          <p:cNvPr id="3" name="TextBox 2">
            <a:extLst>
              <a:ext uri="{FF2B5EF4-FFF2-40B4-BE49-F238E27FC236}">
                <a16:creationId xmlns:a16="http://schemas.microsoft.com/office/drawing/2014/main" id="{4549748A-4DE5-8962-B57E-3A21DC81CDF8}"/>
              </a:ext>
            </a:extLst>
          </p:cNvPr>
          <p:cNvSpPr txBox="1"/>
          <p:nvPr/>
        </p:nvSpPr>
        <p:spPr>
          <a:xfrm>
            <a:off x="365760" y="5200471"/>
            <a:ext cx="3108960" cy="1200329"/>
          </a:xfrm>
          <a:prstGeom prst="rect">
            <a:avLst/>
          </a:prstGeom>
          <a:noFill/>
        </p:spPr>
        <p:txBody>
          <a:bodyPr wrap="square" rtlCol="0">
            <a:spAutoFit/>
          </a:bodyPr>
          <a:lstStyle/>
          <a:p>
            <a:r>
              <a:rPr lang="en-IN" dirty="0"/>
              <a:t>Note – for the visualization purpose here complexities are being reduced and converted into pca1 and pca2</a:t>
            </a:r>
          </a:p>
        </p:txBody>
      </p:sp>
      <p:sp>
        <p:nvSpPr>
          <p:cNvPr id="4" name="TextBox 3">
            <a:extLst>
              <a:ext uri="{FF2B5EF4-FFF2-40B4-BE49-F238E27FC236}">
                <a16:creationId xmlns:a16="http://schemas.microsoft.com/office/drawing/2014/main" id="{A7C4BA41-65A4-2F73-1A44-286A7C43B515}"/>
              </a:ext>
            </a:extLst>
          </p:cNvPr>
          <p:cNvSpPr txBox="1"/>
          <p:nvPr/>
        </p:nvSpPr>
        <p:spPr>
          <a:xfrm>
            <a:off x="365760" y="2831931"/>
            <a:ext cx="3108960" cy="1815882"/>
          </a:xfrm>
          <a:prstGeom prst="rect">
            <a:avLst/>
          </a:prstGeom>
          <a:noFill/>
        </p:spPr>
        <p:txBody>
          <a:bodyPr wrap="square" rtlCol="0">
            <a:spAutoFit/>
          </a:bodyPr>
          <a:lstStyle/>
          <a:p>
            <a:r>
              <a:rPr lang="en-IN" sz="2800" dirty="0"/>
              <a:t>All Hard, Medium, Easy Flights are being Clustered together</a:t>
            </a:r>
          </a:p>
        </p:txBody>
      </p:sp>
    </p:spTree>
    <p:extLst>
      <p:ext uri="{BB962C8B-B14F-4D97-AF65-F5344CB8AC3E}">
        <p14:creationId xmlns:p14="http://schemas.microsoft.com/office/powerpoint/2010/main" val="29551251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67F18-0612-0CFD-7732-A365CD6041D6}"/>
              </a:ext>
            </a:extLst>
          </p:cNvPr>
          <p:cNvSpPr>
            <a:spLocks noGrp="1"/>
          </p:cNvSpPr>
          <p:nvPr>
            <p:ph type="title"/>
          </p:nvPr>
        </p:nvSpPr>
        <p:spPr>
          <a:xfrm>
            <a:off x="4004310" y="2766218"/>
            <a:ext cx="10515600" cy="1325563"/>
          </a:xfrm>
        </p:spPr>
        <p:txBody>
          <a:bodyPr>
            <a:normAutofit/>
          </a:bodyPr>
          <a:lstStyle/>
          <a:p>
            <a:r>
              <a:rPr lang="en-IN" sz="8800" b="1" u="sng" dirty="0"/>
              <a:t>Insights</a:t>
            </a:r>
          </a:p>
        </p:txBody>
      </p:sp>
    </p:spTree>
    <p:extLst>
      <p:ext uri="{BB962C8B-B14F-4D97-AF65-F5344CB8AC3E}">
        <p14:creationId xmlns:p14="http://schemas.microsoft.com/office/powerpoint/2010/main" val="5977981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7170" name="Picture 2">
            <a:extLst>
              <a:ext uri="{FF2B5EF4-FFF2-40B4-BE49-F238E27FC236}">
                <a16:creationId xmlns:a16="http://schemas.microsoft.com/office/drawing/2014/main" id="{3AF92AE8-CB35-DD3A-7BD3-457D4E4677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9310" y="1291590"/>
            <a:ext cx="7490460" cy="556641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799FE15E-8428-F5B6-5AD6-AC816245D1AB}"/>
              </a:ext>
            </a:extLst>
          </p:cNvPr>
          <p:cNvSpPr txBox="1"/>
          <p:nvPr/>
        </p:nvSpPr>
        <p:spPr>
          <a:xfrm>
            <a:off x="320040" y="194310"/>
            <a:ext cx="8671220" cy="923330"/>
          </a:xfrm>
          <a:prstGeom prst="rect">
            <a:avLst/>
          </a:prstGeom>
          <a:noFill/>
        </p:spPr>
        <p:txBody>
          <a:bodyPr wrap="none" rtlCol="0">
            <a:spAutoFit/>
          </a:bodyPr>
          <a:lstStyle/>
          <a:p>
            <a:r>
              <a:rPr lang="en-IN" sz="5400" b="1" u="sng" dirty="0"/>
              <a:t>Component most Dominating</a:t>
            </a:r>
          </a:p>
        </p:txBody>
      </p:sp>
    </p:spTree>
    <p:extLst>
      <p:ext uri="{BB962C8B-B14F-4D97-AF65-F5344CB8AC3E}">
        <p14:creationId xmlns:p14="http://schemas.microsoft.com/office/powerpoint/2010/main" val="16675357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00AA943-9C93-504C-837C-7B1A209AC36B}"/>
              </a:ext>
            </a:extLst>
          </p:cNvPr>
          <p:cNvPicPr>
            <a:picLocks noChangeAspect="1"/>
          </p:cNvPicPr>
          <p:nvPr/>
        </p:nvPicPr>
        <p:blipFill>
          <a:blip r:embed="rId2"/>
          <a:stretch>
            <a:fillRect/>
          </a:stretch>
        </p:blipFill>
        <p:spPr>
          <a:xfrm>
            <a:off x="32191" y="3188970"/>
            <a:ext cx="5468113" cy="3181794"/>
          </a:xfrm>
          <a:prstGeom prst="rect">
            <a:avLst/>
          </a:prstGeom>
        </p:spPr>
      </p:pic>
      <p:pic>
        <p:nvPicPr>
          <p:cNvPr id="8194" name="Picture 2">
            <a:extLst>
              <a:ext uri="{FF2B5EF4-FFF2-40B4-BE49-F238E27FC236}">
                <a16:creationId xmlns:a16="http://schemas.microsoft.com/office/drawing/2014/main" id="{2EBAB720-6DB4-FFF1-AFEB-69756F2666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00304" y="3074670"/>
            <a:ext cx="6691695" cy="40386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9BEF1D6-D686-5797-8D95-803D24152F8E}"/>
              </a:ext>
            </a:extLst>
          </p:cNvPr>
          <p:cNvSpPr txBox="1"/>
          <p:nvPr/>
        </p:nvSpPr>
        <p:spPr>
          <a:xfrm>
            <a:off x="1817370" y="91440"/>
            <a:ext cx="8151590" cy="1107996"/>
          </a:xfrm>
          <a:prstGeom prst="rect">
            <a:avLst/>
          </a:prstGeom>
          <a:noFill/>
        </p:spPr>
        <p:txBody>
          <a:bodyPr wrap="none" rtlCol="0">
            <a:spAutoFit/>
          </a:bodyPr>
          <a:lstStyle/>
          <a:p>
            <a:r>
              <a:rPr lang="en-IN" sz="6600" b="1" u="sng" dirty="0"/>
              <a:t>Top 10 Hardest Routes</a:t>
            </a:r>
          </a:p>
        </p:txBody>
      </p:sp>
      <p:sp>
        <p:nvSpPr>
          <p:cNvPr id="5" name="TextBox 4">
            <a:extLst>
              <a:ext uri="{FF2B5EF4-FFF2-40B4-BE49-F238E27FC236}">
                <a16:creationId xmlns:a16="http://schemas.microsoft.com/office/drawing/2014/main" id="{A9A48904-F4B1-A7F2-CD63-C91E68A8D9B5}"/>
              </a:ext>
            </a:extLst>
          </p:cNvPr>
          <p:cNvSpPr txBox="1"/>
          <p:nvPr/>
        </p:nvSpPr>
        <p:spPr>
          <a:xfrm>
            <a:off x="46095" y="1199436"/>
            <a:ext cx="12549765" cy="830997"/>
          </a:xfrm>
          <a:prstGeom prst="rect">
            <a:avLst/>
          </a:prstGeom>
          <a:noFill/>
        </p:spPr>
        <p:txBody>
          <a:bodyPr wrap="square" rtlCol="0">
            <a:spAutoFit/>
          </a:bodyPr>
          <a:lstStyle/>
          <a:p>
            <a:r>
              <a:rPr lang="en-IN" sz="2400" dirty="0"/>
              <a:t>Airlines company has to put extra effort on these routes in order to minimize there overall Complexity</a:t>
            </a:r>
          </a:p>
        </p:txBody>
      </p:sp>
    </p:spTree>
    <p:extLst>
      <p:ext uri="{BB962C8B-B14F-4D97-AF65-F5344CB8AC3E}">
        <p14:creationId xmlns:p14="http://schemas.microsoft.com/office/powerpoint/2010/main" val="8956390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51F5B4B-4030-5D4E-A991-ACB44B59C884}"/>
              </a:ext>
            </a:extLst>
          </p:cNvPr>
          <p:cNvPicPr>
            <a:picLocks noChangeAspect="1"/>
          </p:cNvPicPr>
          <p:nvPr/>
        </p:nvPicPr>
        <p:blipFill>
          <a:blip r:embed="rId2"/>
          <a:stretch>
            <a:fillRect/>
          </a:stretch>
        </p:blipFill>
        <p:spPr>
          <a:xfrm>
            <a:off x="0" y="4540665"/>
            <a:ext cx="12192000" cy="1891469"/>
          </a:xfrm>
          <a:prstGeom prst="rect">
            <a:avLst/>
          </a:prstGeom>
        </p:spPr>
      </p:pic>
      <p:pic>
        <p:nvPicPr>
          <p:cNvPr id="5" name="Picture 4">
            <a:extLst>
              <a:ext uri="{FF2B5EF4-FFF2-40B4-BE49-F238E27FC236}">
                <a16:creationId xmlns:a16="http://schemas.microsoft.com/office/drawing/2014/main" id="{D75FFCD5-1A86-04CB-689A-211C1F620152}"/>
              </a:ext>
            </a:extLst>
          </p:cNvPr>
          <p:cNvPicPr>
            <a:picLocks noChangeAspect="1"/>
          </p:cNvPicPr>
          <p:nvPr/>
        </p:nvPicPr>
        <p:blipFill>
          <a:blip r:embed="rId3"/>
          <a:stretch>
            <a:fillRect/>
          </a:stretch>
        </p:blipFill>
        <p:spPr>
          <a:xfrm>
            <a:off x="6323781" y="425866"/>
            <a:ext cx="5868219" cy="3924848"/>
          </a:xfrm>
          <a:prstGeom prst="rect">
            <a:avLst/>
          </a:prstGeom>
        </p:spPr>
      </p:pic>
      <p:sp>
        <p:nvSpPr>
          <p:cNvPr id="6" name="TextBox 5">
            <a:extLst>
              <a:ext uri="{FF2B5EF4-FFF2-40B4-BE49-F238E27FC236}">
                <a16:creationId xmlns:a16="http://schemas.microsoft.com/office/drawing/2014/main" id="{63A359D0-A8A3-4F68-CA45-867390432604}"/>
              </a:ext>
            </a:extLst>
          </p:cNvPr>
          <p:cNvSpPr txBox="1"/>
          <p:nvPr/>
        </p:nvSpPr>
        <p:spPr>
          <a:xfrm>
            <a:off x="96070" y="284241"/>
            <a:ext cx="5772150" cy="1200329"/>
          </a:xfrm>
          <a:prstGeom prst="rect">
            <a:avLst/>
          </a:prstGeom>
          <a:noFill/>
        </p:spPr>
        <p:txBody>
          <a:bodyPr wrap="square" rtlCol="0">
            <a:spAutoFit/>
          </a:bodyPr>
          <a:lstStyle/>
          <a:p>
            <a:r>
              <a:rPr lang="en-IN" sz="3600" b="1" u="sng" dirty="0"/>
              <a:t>Individual Complexity score of different company</a:t>
            </a:r>
          </a:p>
        </p:txBody>
      </p:sp>
    </p:spTree>
    <p:extLst>
      <p:ext uri="{BB962C8B-B14F-4D97-AF65-F5344CB8AC3E}">
        <p14:creationId xmlns:p14="http://schemas.microsoft.com/office/powerpoint/2010/main" val="34106536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D473FA3-1AA9-1CD9-80E7-F4C6CFF05F7B}"/>
              </a:ext>
            </a:extLst>
          </p:cNvPr>
          <p:cNvPicPr>
            <a:picLocks noChangeAspect="1"/>
          </p:cNvPicPr>
          <p:nvPr/>
        </p:nvPicPr>
        <p:blipFill>
          <a:blip r:embed="rId2"/>
          <a:stretch>
            <a:fillRect/>
          </a:stretch>
        </p:blipFill>
        <p:spPr>
          <a:xfrm>
            <a:off x="1242844" y="1290179"/>
            <a:ext cx="9706311" cy="5407801"/>
          </a:xfrm>
          <a:prstGeom prst="rect">
            <a:avLst/>
          </a:prstGeom>
        </p:spPr>
      </p:pic>
      <p:sp>
        <p:nvSpPr>
          <p:cNvPr id="4" name="TextBox 3">
            <a:extLst>
              <a:ext uri="{FF2B5EF4-FFF2-40B4-BE49-F238E27FC236}">
                <a16:creationId xmlns:a16="http://schemas.microsoft.com/office/drawing/2014/main" id="{1BF79B75-394E-D15F-E185-C41C7AF8C570}"/>
              </a:ext>
            </a:extLst>
          </p:cNvPr>
          <p:cNvSpPr txBox="1"/>
          <p:nvPr/>
        </p:nvSpPr>
        <p:spPr>
          <a:xfrm>
            <a:off x="1943100" y="377190"/>
            <a:ext cx="9277220" cy="646331"/>
          </a:xfrm>
          <a:prstGeom prst="rect">
            <a:avLst/>
          </a:prstGeom>
          <a:noFill/>
        </p:spPr>
        <p:txBody>
          <a:bodyPr wrap="none" rtlCol="0">
            <a:spAutoFit/>
          </a:bodyPr>
          <a:lstStyle/>
          <a:p>
            <a:r>
              <a:rPr lang="en-IN" sz="3600" b="1" u="sng" dirty="0"/>
              <a:t>Top 3 Hardest Routes for each Airline Company </a:t>
            </a:r>
          </a:p>
        </p:txBody>
      </p:sp>
    </p:spTree>
    <p:extLst>
      <p:ext uri="{BB962C8B-B14F-4D97-AF65-F5344CB8AC3E}">
        <p14:creationId xmlns:p14="http://schemas.microsoft.com/office/powerpoint/2010/main" val="27816109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22DD2B5-7C89-F4D1-82C6-563E9850347B}"/>
              </a:ext>
            </a:extLst>
          </p:cNvPr>
          <p:cNvPicPr>
            <a:picLocks noChangeAspect="1"/>
          </p:cNvPicPr>
          <p:nvPr/>
        </p:nvPicPr>
        <p:blipFill>
          <a:blip r:embed="rId2"/>
          <a:stretch>
            <a:fillRect/>
          </a:stretch>
        </p:blipFill>
        <p:spPr>
          <a:xfrm>
            <a:off x="695774" y="1180850"/>
            <a:ext cx="11153649" cy="5539990"/>
          </a:xfrm>
          <a:prstGeom prst="rect">
            <a:avLst/>
          </a:prstGeom>
        </p:spPr>
      </p:pic>
      <p:sp>
        <p:nvSpPr>
          <p:cNvPr id="4" name="TextBox 3">
            <a:extLst>
              <a:ext uri="{FF2B5EF4-FFF2-40B4-BE49-F238E27FC236}">
                <a16:creationId xmlns:a16="http://schemas.microsoft.com/office/drawing/2014/main" id="{7312F091-149A-2864-3989-B6990699BD6C}"/>
              </a:ext>
            </a:extLst>
          </p:cNvPr>
          <p:cNvSpPr txBox="1"/>
          <p:nvPr/>
        </p:nvSpPr>
        <p:spPr>
          <a:xfrm>
            <a:off x="-12584" y="217170"/>
            <a:ext cx="12570364" cy="523220"/>
          </a:xfrm>
          <a:prstGeom prst="rect">
            <a:avLst/>
          </a:prstGeom>
          <a:noFill/>
        </p:spPr>
        <p:txBody>
          <a:bodyPr wrap="none" rtlCol="0">
            <a:spAutoFit/>
          </a:bodyPr>
          <a:lstStyle/>
          <a:p>
            <a:r>
              <a:rPr lang="en-IN" sz="2800" b="1" u="sng" dirty="0"/>
              <a:t>Percentage of each company flight into categories according to overall complexity</a:t>
            </a:r>
          </a:p>
        </p:txBody>
      </p:sp>
    </p:spTree>
    <p:extLst>
      <p:ext uri="{BB962C8B-B14F-4D97-AF65-F5344CB8AC3E}">
        <p14:creationId xmlns:p14="http://schemas.microsoft.com/office/powerpoint/2010/main" val="11954987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9218" name="Picture 2">
            <a:extLst>
              <a:ext uri="{FF2B5EF4-FFF2-40B4-BE49-F238E27FC236}">
                <a16:creationId xmlns:a16="http://schemas.microsoft.com/office/drawing/2014/main" id="{7EB9E40A-0CF1-2E41-183D-C9A41D03ED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0670" y="879718"/>
            <a:ext cx="8884920" cy="5978282"/>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345A6995-7C39-0C44-65C4-A1EB0F9CCD16}"/>
              </a:ext>
            </a:extLst>
          </p:cNvPr>
          <p:cNvSpPr txBox="1"/>
          <p:nvPr/>
        </p:nvSpPr>
        <p:spPr>
          <a:xfrm>
            <a:off x="2514600" y="233387"/>
            <a:ext cx="8216673" cy="646331"/>
          </a:xfrm>
          <a:prstGeom prst="rect">
            <a:avLst/>
          </a:prstGeom>
          <a:noFill/>
        </p:spPr>
        <p:txBody>
          <a:bodyPr wrap="none" rtlCol="0">
            <a:spAutoFit/>
          </a:bodyPr>
          <a:lstStyle/>
          <a:p>
            <a:r>
              <a:rPr lang="en-IN" sz="3600" b="1" u="sng" dirty="0"/>
              <a:t>Company-wise Overall Flight Complexities</a:t>
            </a:r>
          </a:p>
        </p:txBody>
      </p:sp>
    </p:spTree>
    <p:extLst>
      <p:ext uri="{BB962C8B-B14F-4D97-AF65-F5344CB8AC3E}">
        <p14:creationId xmlns:p14="http://schemas.microsoft.com/office/powerpoint/2010/main" val="32136806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774B1-C0F8-0A3E-AF00-3FFAEA2B98F9}"/>
              </a:ext>
            </a:extLst>
          </p:cNvPr>
          <p:cNvSpPr>
            <a:spLocks noGrp="1"/>
          </p:cNvSpPr>
          <p:nvPr>
            <p:ph type="title"/>
          </p:nvPr>
        </p:nvSpPr>
        <p:spPr>
          <a:xfrm>
            <a:off x="1935480" y="2593975"/>
            <a:ext cx="10515600" cy="1325563"/>
          </a:xfrm>
          <a:noFill/>
        </p:spPr>
        <p:txBody>
          <a:bodyPr>
            <a:normAutofit/>
          </a:bodyPr>
          <a:lstStyle/>
          <a:p>
            <a:r>
              <a:rPr lang="en-IN" sz="8800" b="1" u="sng" dirty="0">
                <a:effectLst>
                  <a:reflection stA="45000" endPos="2000" dist="50800" dir="5400000" sy="-100000" algn="bl" rotWithShape="0"/>
                </a:effectLst>
              </a:rPr>
              <a:t>Recommendations</a:t>
            </a:r>
          </a:p>
        </p:txBody>
      </p:sp>
    </p:spTree>
    <p:extLst>
      <p:ext uri="{BB962C8B-B14F-4D97-AF65-F5344CB8AC3E}">
        <p14:creationId xmlns:p14="http://schemas.microsoft.com/office/powerpoint/2010/main" val="133595301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98C7727F-E87D-8E58-08EF-C26B4C1C4707}"/>
                  </a:ext>
                </a:extLst>
              </p:cNvPr>
              <p:cNvSpPr txBox="1"/>
              <p:nvPr/>
            </p:nvSpPr>
            <p:spPr>
              <a:xfrm>
                <a:off x="0" y="137160"/>
                <a:ext cx="12192000" cy="7109639"/>
              </a:xfrm>
              <a:prstGeom prst="rect">
                <a:avLst/>
              </a:prstGeom>
              <a:noFill/>
            </p:spPr>
            <p:txBody>
              <a:bodyPr wrap="square" rtlCol="0">
                <a:spAutoFit/>
              </a:bodyPr>
              <a:lstStyle/>
              <a:p>
                <a:pPr algn="ctr"/>
                <a:r>
                  <a:rPr lang="en-IN" sz="4800" b="1" u="sng" dirty="0"/>
                  <a:t>Delay Minimization</a:t>
                </a:r>
              </a:p>
              <a:p>
                <a:endParaRPr lang="en-IN" sz="4800" b="1" u="sng" dirty="0"/>
              </a:p>
              <a:p>
                <a:r>
                  <a:rPr lang="en-GB" sz="2400" dirty="0"/>
                  <a:t>In airline operations, </a:t>
                </a:r>
                <a:r>
                  <a:rPr lang="en-GB" sz="2400" b="1" dirty="0"/>
                  <a:t>arrival delay</a:t>
                </a:r>
                <a:r>
                  <a:rPr lang="en-GB" sz="2400" dirty="0"/>
                  <a:t> is strongly influenced by </a:t>
                </a:r>
                <a:r>
                  <a:rPr lang="en-GB" sz="2400" b="1" dirty="0"/>
                  <a:t>departure delay</a:t>
                </a:r>
                <a:r>
                  <a:rPr lang="en-GB" sz="2400" dirty="0"/>
                  <a:t>, because a flight that leaves late usually arrives late unless significant time buffers exist. Mathematically:</a:t>
                </a:r>
              </a:p>
              <a:p>
                <a:endParaRPr lang="en-GB" sz="2400" dirty="0"/>
              </a:p>
              <a:p>
                <a14:m>
                  <m:oMathPara xmlns:m="http://schemas.openxmlformats.org/officeDocument/2006/math">
                    <m:oMathParaPr>
                      <m:jc m:val="centerGroup"/>
                    </m:oMathParaPr>
                    <m:oMath xmlns:m="http://schemas.openxmlformats.org/officeDocument/2006/math">
                      <m:r>
                        <m:rPr>
                          <m:nor/>
                        </m:rPr>
                        <a:rPr lang="en-GB" sz="2400" b="0"/>
                        <m:t>Arrival</m:t>
                      </m:r>
                      <m:r>
                        <m:rPr>
                          <m:nor/>
                        </m:rPr>
                        <a:rPr lang="en-GB" sz="2400" b="0" i="1"/>
                        <m:t> </m:t>
                      </m:r>
                      <m:r>
                        <m:rPr>
                          <m:nor/>
                        </m:rPr>
                        <a:rPr lang="en-GB" sz="2400" b="0" i="1"/>
                        <m:t>Delay</m:t>
                      </m:r>
                      <m:r>
                        <a:rPr lang="en-GB" sz="2400"/>
                        <m:t>≈</m:t>
                      </m:r>
                      <m:r>
                        <m:rPr>
                          <m:nor/>
                        </m:rPr>
                        <a:rPr lang="en-GB" sz="2400" i="1"/>
                        <m:t>Departure</m:t>
                      </m:r>
                      <m:r>
                        <m:rPr>
                          <m:nor/>
                        </m:rPr>
                        <a:rPr lang="en-GB" sz="2400" i="1"/>
                        <m:t> </m:t>
                      </m:r>
                      <m:r>
                        <m:rPr>
                          <m:nor/>
                        </m:rPr>
                        <a:rPr lang="en-GB" sz="2400" i="1"/>
                        <m:t>Delay</m:t>
                      </m:r>
                      <m:r>
                        <a:rPr lang="en-GB" sz="2400"/>
                        <m:t>+</m:t>
                      </m:r>
                      <m:r>
                        <m:rPr>
                          <m:nor/>
                        </m:rPr>
                        <a:rPr lang="en-GB" sz="2400" i="1"/>
                        <m:t>En</m:t>
                      </m:r>
                      <m:r>
                        <m:rPr>
                          <m:nor/>
                        </m:rPr>
                        <a:rPr lang="en-GB" sz="2400" i="1"/>
                        <m:t>−</m:t>
                      </m:r>
                      <m:r>
                        <m:rPr>
                          <m:nor/>
                        </m:rPr>
                        <a:rPr lang="en-GB" sz="2400" i="1"/>
                        <m:t>route</m:t>
                      </m:r>
                      <m:r>
                        <m:rPr>
                          <m:nor/>
                        </m:rPr>
                        <a:rPr lang="en-GB" sz="2400" i="1"/>
                        <m:t>/</m:t>
                      </m:r>
                      <m:r>
                        <m:rPr>
                          <m:nor/>
                        </m:rPr>
                        <a:rPr lang="en-GB" sz="2400" i="1"/>
                        <m:t>Operational</m:t>
                      </m:r>
                      <m:r>
                        <m:rPr>
                          <m:nor/>
                        </m:rPr>
                        <a:rPr lang="en-GB" sz="2400" i="1"/>
                        <m:t> </m:t>
                      </m:r>
                      <m:r>
                        <m:rPr>
                          <m:nor/>
                        </m:rPr>
                        <a:rPr lang="en-GB" sz="2400" i="1"/>
                        <m:t>Delays</m:t>
                      </m:r>
                    </m:oMath>
                  </m:oMathPara>
                </a14:m>
                <a:endParaRPr lang="en-GB" sz="2400" b="0" dirty="0"/>
              </a:p>
              <a:p>
                <a:endParaRPr lang="en-GB" sz="2400" dirty="0"/>
              </a:p>
              <a:p>
                <a:r>
                  <a:rPr lang="en-GB" sz="2400" b="1" dirty="0"/>
                  <a:t>Implication:</a:t>
                </a:r>
              </a:p>
              <a:p>
                <a:r>
                  <a:rPr lang="en-GB" sz="2400" b="1" dirty="0"/>
                  <a:t>Minimizing Departure Delay → Reduces Overall Delay Complexity</a:t>
                </a:r>
                <a:endParaRPr lang="en-GB" sz="2400" dirty="0"/>
              </a:p>
              <a:p>
                <a:r>
                  <a:rPr lang="en-GB" sz="2400" dirty="0"/>
                  <a:t>By focusing on reducing delays at the departure stage (e.g., faster boarding, efficient ground operations, optimized scheduling), airlines can significantly decrease the probability of late arrivals.</a:t>
                </a:r>
              </a:p>
              <a:p>
                <a:r>
                  <a:rPr lang="en-GB" sz="2400" dirty="0"/>
                  <a:t>This strategy simplifies delay management and improves </a:t>
                </a:r>
                <a:r>
                  <a:rPr lang="en-GB" sz="2400" b="1" dirty="0"/>
                  <a:t>flight punctuality</a:t>
                </a:r>
                <a:r>
                  <a:rPr lang="en-GB" sz="2400" dirty="0"/>
                  <a:t>, </a:t>
                </a:r>
                <a:r>
                  <a:rPr lang="en-GB" sz="2400" b="1" dirty="0"/>
                  <a:t>passenger satisfaction</a:t>
                </a:r>
                <a:r>
                  <a:rPr lang="en-GB" sz="2400" dirty="0"/>
                  <a:t>, and </a:t>
                </a:r>
                <a:r>
                  <a:rPr lang="en-GB" sz="2400" b="1" dirty="0"/>
                  <a:t>resource utilization</a:t>
                </a:r>
                <a:r>
                  <a:rPr lang="en-GB" sz="2400" dirty="0"/>
                  <a:t>.</a:t>
                </a:r>
              </a:p>
              <a:p>
                <a:endParaRPr lang="en-GB" sz="2400" b="0" dirty="0"/>
              </a:p>
              <a:p>
                <a:pPr algn="ctr"/>
                <a:endParaRPr lang="en-IN" sz="4800" b="1" u="sng" dirty="0"/>
              </a:p>
            </p:txBody>
          </p:sp>
        </mc:Choice>
        <mc:Fallback>
          <p:sp>
            <p:nvSpPr>
              <p:cNvPr id="2" name="TextBox 1">
                <a:extLst>
                  <a:ext uri="{FF2B5EF4-FFF2-40B4-BE49-F238E27FC236}">
                    <a16:creationId xmlns:a16="http://schemas.microsoft.com/office/drawing/2014/main" id="{98C7727F-E87D-8E58-08EF-C26B4C1C4707}"/>
                  </a:ext>
                </a:extLst>
              </p:cNvPr>
              <p:cNvSpPr txBox="1">
                <a:spLocks noRot="1" noChangeAspect="1" noMove="1" noResize="1" noEditPoints="1" noAdjustHandles="1" noChangeArrowheads="1" noChangeShapeType="1" noTextEdit="1"/>
              </p:cNvSpPr>
              <p:nvPr/>
            </p:nvSpPr>
            <p:spPr>
              <a:xfrm>
                <a:off x="0" y="137160"/>
                <a:ext cx="12192000" cy="7109639"/>
              </a:xfrm>
              <a:prstGeom prst="rect">
                <a:avLst/>
              </a:prstGeom>
              <a:blipFill>
                <a:blip r:embed="rId2"/>
                <a:stretch>
                  <a:fillRect l="-750" t="-1887"/>
                </a:stretch>
              </a:blipFill>
            </p:spPr>
            <p:txBody>
              <a:bodyPr/>
              <a:lstStyle/>
              <a:p>
                <a:r>
                  <a:rPr lang="en-IN">
                    <a:noFill/>
                  </a:rPr>
                  <a:t> </a:t>
                </a:r>
              </a:p>
            </p:txBody>
          </p:sp>
        </mc:Fallback>
      </mc:AlternateContent>
    </p:spTree>
    <p:extLst>
      <p:ext uri="{BB962C8B-B14F-4D97-AF65-F5344CB8AC3E}">
        <p14:creationId xmlns:p14="http://schemas.microsoft.com/office/powerpoint/2010/main" val="39364906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0414BDA-1E84-254A-C548-F6FD1DAF92E2}"/>
              </a:ext>
            </a:extLst>
          </p:cNvPr>
          <p:cNvSpPr txBox="1"/>
          <p:nvPr/>
        </p:nvSpPr>
        <p:spPr>
          <a:xfrm>
            <a:off x="0" y="194310"/>
            <a:ext cx="12192000" cy="6863417"/>
          </a:xfrm>
          <a:prstGeom prst="rect">
            <a:avLst/>
          </a:prstGeom>
          <a:noFill/>
        </p:spPr>
        <p:txBody>
          <a:bodyPr wrap="square" rtlCol="0">
            <a:spAutoFit/>
          </a:bodyPr>
          <a:lstStyle/>
          <a:p>
            <a:pPr algn="ctr"/>
            <a:r>
              <a:rPr lang="en-IN" sz="4800" b="1" u="sng" dirty="0"/>
              <a:t>Increasing Buffer time </a:t>
            </a:r>
          </a:p>
          <a:p>
            <a:r>
              <a:rPr lang="en-GB" sz="3200" dirty="0"/>
              <a:t>In airline operations, </a:t>
            </a:r>
            <a:r>
              <a:rPr lang="en-GB" sz="3200" b="1" dirty="0"/>
              <a:t>buffer time</a:t>
            </a:r>
            <a:r>
              <a:rPr lang="en-GB" sz="3200" dirty="0"/>
              <a:t> is the extra time scheduled beyond the minimum required for ground handling, boarding, and taxiing.</a:t>
            </a:r>
          </a:p>
          <a:p>
            <a:endParaRPr lang="en-GB" sz="3200" dirty="0"/>
          </a:p>
          <a:p>
            <a:r>
              <a:rPr lang="en-GB" sz="3200" b="1" dirty="0"/>
              <a:t>Key Idea:</a:t>
            </a:r>
          </a:p>
          <a:p>
            <a:pPr marL="457200" indent="-457200">
              <a:buFont typeface="Arial" panose="020B0604020202020204" pitchFamily="34" charset="0"/>
              <a:buChar char="•"/>
            </a:pPr>
            <a:r>
              <a:rPr lang="en-GB" sz="3200" dirty="0"/>
              <a:t>Adding a few </a:t>
            </a:r>
            <a:r>
              <a:rPr lang="en-GB" sz="3200" b="1" dirty="0"/>
              <a:t>extra minutes as buffer</a:t>
            </a:r>
            <a:r>
              <a:rPr lang="en-GB" sz="3200" dirty="0"/>
              <a:t> can reduce the operational pressure on staff and resources.</a:t>
            </a:r>
          </a:p>
          <a:p>
            <a:pPr marL="457200" indent="-457200">
              <a:buFont typeface="Arial" panose="020B0604020202020204" pitchFamily="34" charset="0"/>
              <a:buChar char="•"/>
            </a:pPr>
            <a:r>
              <a:rPr lang="en-GB" sz="3200" dirty="0"/>
              <a:t>This helps accommodate minor delays (e.g., late passengers, slow baggage handling, or weather disruptions) without impacting the </a:t>
            </a:r>
            <a:r>
              <a:rPr lang="en-GB" sz="3200" b="1" dirty="0"/>
              <a:t>scheduled departure and arrival times</a:t>
            </a:r>
            <a:r>
              <a:rPr lang="en-GB" sz="3200" dirty="0"/>
              <a:t>.</a:t>
            </a:r>
          </a:p>
          <a:p>
            <a:pPr marL="457200" indent="-457200">
              <a:buFont typeface="Arial" panose="020B0604020202020204" pitchFamily="34" charset="0"/>
              <a:buChar char="•"/>
            </a:pPr>
            <a:r>
              <a:rPr lang="en-GB" sz="3200" dirty="0"/>
              <a:t>Effectively, it </a:t>
            </a:r>
            <a:r>
              <a:rPr lang="en-GB" sz="3200" b="1" dirty="0"/>
              <a:t>reduces the probability of cascading delays</a:t>
            </a:r>
            <a:r>
              <a:rPr lang="en-GB" sz="3200" dirty="0"/>
              <a:t> and improves overall </a:t>
            </a:r>
            <a:r>
              <a:rPr lang="en-GB" sz="3200" b="1" dirty="0"/>
              <a:t>flight punctuality and reliability</a:t>
            </a:r>
            <a:r>
              <a:rPr lang="en-GB" sz="3200" dirty="0"/>
              <a:t>.</a:t>
            </a:r>
          </a:p>
          <a:p>
            <a:endParaRPr lang="en-IN" sz="4000" dirty="0"/>
          </a:p>
        </p:txBody>
      </p:sp>
    </p:spTree>
    <p:extLst>
      <p:ext uri="{BB962C8B-B14F-4D97-AF65-F5344CB8AC3E}">
        <p14:creationId xmlns:p14="http://schemas.microsoft.com/office/powerpoint/2010/main" val="10864915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C4D06D-98EE-E662-567D-BDFD9BB41D4F}"/>
              </a:ext>
            </a:extLst>
          </p:cNvPr>
          <p:cNvSpPr txBox="1"/>
          <p:nvPr/>
        </p:nvSpPr>
        <p:spPr>
          <a:xfrm>
            <a:off x="0" y="80010"/>
            <a:ext cx="12192000" cy="6555641"/>
          </a:xfrm>
          <a:prstGeom prst="rect">
            <a:avLst/>
          </a:prstGeom>
          <a:noFill/>
        </p:spPr>
        <p:txBody>
          <a:bodyPr wrap="square" rtlCol="0">
            <a:spAutoFit/>
          </a:bodyPr>
          <a:lstStyle/>
          <a:p>
            <a:pPr algn="ctr"/>
            <a:r>
              <a:rPr lang="en-IN" sz="4800" b="1" u="sng" dirty="0"/>
              <a:t>Handling of Child Passengers</a:t>
            </a:r>
          </a:p>
          <a:p>
            <a:endParaRPr lang="en-IN" dirty="0"/>
          </a:p>
          <a:p>
            <a:r>
              <a:rPr lang="en-GB" sz="2800" dirty="0"/>
              <a:t>Children traveling as passengers often introduce additional operational complexity for a flight. Managing their needs—such as </a:t>
            </a:r>
            <a:r>
              <a:rPr lang="en-GB" sz="2800" b="1" dirty="0"/>
              <a:t>safety, comfort, seating arrangements, and boarding assistance</a:t>
            </a:r>
            <a:r>
              <a:rPr lang="en-GB" sz="2800" dirty="0"/>
              <a:t>—requires extra attention from cabin staff.</a:t>
            </a:r>
          </a:p>
          <a:p>
            <a:r>
              <a:rPr lang="en-GB" sz="2800" b="1" dirty="0"/>
              <a:t>Key Points:</a:t>
            </a:r>
          </a:p>
          <a:p>
            <a:r>
              <a:rPr lang="en-GB" sz="2800" dirty="0"/>
              <a:t>Ensuring child passengers are properly seated and accompanied can </a:t>
            </a:r>
            <a:r>
              <a:rPr lang="en-GB" sz="2800" b="1" dirty="0"/>
              <a:t>increase turnaround time</a:t>
            </a:r>
            <a:r>
              <a:rPr lang="en-GB" sz="2800" dirty="0"/>
              <a:t> and workload for staff.</a:t>
            </a:r>
          </a:p>
          <a:p>
            <a:r>
              <a:rPr lang="en-GB" sz="2800" dirty="0"/>
              <a:t>Special services (e.g., unaccompanied minors) require </a:t>
            </a:r>
            <a:r>
              <a:rPr lang="en-GB" sz="2800" b="1" dirty="0"/>
              <a:t>additional checks and monitoring</a:t>
            </a:r>
            <a:r>
              <a:rPr lang="en-GB" sz="2800" dirty="0"/>
              <a:t>, which can affect overall scheduling.</a:t>
            </a:r>
          </a:p>
          <a:p>
            <a:r>
              <a:rPr lang="en-GB" sz="2800" b="1" dirty="0"/>
              <a:t>Impact:</a:t>
            </a:r>
          </a:p>
          <a:p>
            <a:r>
              <a:rPr lang="en-GB" sz="2800" b="1" dirty="0"/>
              <a:t>Direct impact on departure and arrival times</a:t>
            </a:r>
            <a:r>
              <a:rPr lang="en-GB" sz="2800" dirty="0"/>
              <a:t>: Handling child passengers can slightly increase boarding or ground time, contributing to overall flight delay complexity.</a:t>
            </a:r>
          </a:p>
          <a:p>
            <a:endParaRPr lang="en-IN" dirty="0"/>
          </a:p>
        </p:txBody>
      </p:sp>
    </p:spTree>
    <p:extLst>
      <p:ext uri="{BB962C8B-B14F-4D97-AF65-F5344CB8AC3E}">
        <p14:creationId xmlns:p14="http://schemas.microsoft.com/office/powerpoint/2010/main" val="15565003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9B9FBA-59C0-694D-25B7-B670BE24712B}"/>
              </a:ext>
            </a:extLst>
          </p:cNvPr>
          <p:cNvSpPr txBox="1"/>
          <p:nvPr/>
        </p:nvSpPr>
        <p:spPr>
          <a:xfrm>
            <a:off x="0" y="240030"/>
            <a:ext cx="12192000" cy="6370975"/>
          </a:xfrm>
          <a:prstGeom prst="rect">
            <a:avLst/>
          </a:prstGeom>
          <a:noFill/>
        </p:spPr>
        <p:txBody>
          <a:bodyPr wrap="square" rtlCol="0">
            <a:spAutoFit/>
          </a:bodyPr>
          <a:lstStyle/>
          <a:p>
            <a:pPr algn="ctr"/>
            <a:r>
              <a:rPr lang="en-IN" sz="4400" b="1" u="sng" dirty="0"/>
              <a:t>Efficient Baggage Handling</a:t>
            </a:r>
          </a:p>
          <a:p>
            <a:r>
              <a:rPr lang="en-IN" sz="2800" b="1" dirty="0"/>
              <a:t>Objective:</a:t>
            </a:r>
            <a:r>
              <a:rPr lang="en-IN" sz="2800" dirty="0"/>
              <a:t> Reduce operational complexity and delays caused by baggage processing.</a:t>
            </a:r>
          </a:p>
          <a:p>
            <a:r>
              <a:rPr lang="en-IN" sz="2800" b="1" dirty="0"/>
              <a:t>Origin Bags:</a:t>
            </a:r>
            <a:r>
              <a:rPr lang="en-IN" sz="2800" dirty="0"/>
              <a:t> Standard handling; minimal impact on flight schedules.</a:t>
            </a:r>
          </a:p>
          <a:p>
            <a:r>
              <a:rPr lang="en-IN" sz="2800" b="1" dirty="0"/>
              <a:t>Transfer Bags:</a:t>
            </a:r>
            <a:r>
              <a:rPr lang="en-IN" sz="2800" dirty="0"/>
              <a:t> Require careful sorting between connecting flights; moderate delay impact.</a:t>
            </a:r>
          </a:p>
          <a:p>
            <a:r>
              <a:rPr lang="en-IN" sz="2800" b="1" dirty="0"/>
              <a:t>Hot Transfer Bags:</a:t>
            </a:r>
            <a:r>
              <a:rPr lang="en-IN" sz="2800" dirty="0"/>
              <a:t> Tight connections demand urgent handling; high impact on departure and arrival times.</a:t>
            </a:r>
          </a:p>
          <a:p>
            <a:r>
              <a:rPr lang="en-IN" sz="2800" b="1" dirty="0"/>
              <a:t>Actionable Steps:</a:t>
            </a:r>
            <a:endParaRPr lang="en-IN" sz="2800" dirty="0"/>
          </a:p>
          <a:p>
            <a:r>
              <a:rPr lang="en-IN" sz="2800" dirty="0"/>
              <a:t>Prioritize hot transfer baggage to avoid cascading delays.</a:t>
            </a:r>
          </a:p>
          <a:p>
            <a:r>
              <a:rPr lang="en-IN" sz="2800" dirty="0"/>
              <a:t>Automate sorting and tracking where possible.</a:t>
            </a:r>
          </a:p>
          <a:p>
            <a:r>
              <a:rPr lang="en-IN" sz="2800" dirty="0"/>
              <a:t>Allocate sufficient staff during peak transfer periods.</a:t>
            </a:r>
          </a:p>
          <a:p>
            <a:r>
              <a:rPr lang="en-IN" sz="2800" b="1" dirty="0"/>
              <a:t>Impact:</a:t>
            </a:r>
            <a:r>
              <a:rPr lang="en-IN" sz="2800" dirty="0"/>
              <a:t> Streamlined baggage handling reduces turnaround time, minimizes delay complexity, and improves overall flight punctuality.</a:t>
            </a:r>
          </a:p>
        </p:txBody>
      </p:sp>
    </p:spTree>
    <p:extLst>
      <p:ext uri="{BB962C8B-B14F-4D97-AF65-F5344CB8AC3E}">
        <p14:creationId xmlns:p14="http://schemas.microsoft.com/office/powerpoint/2010/main" val="270613562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89899-60C2-5C71-492B-829FCD164777}"/>
              </a:ext>
            </a:extLst>
          </p:cNvPr>
          <p:cNvSpPr>
            <a:spLocks noGrp="1"/>
          </p:cNvSpPr>
          <p:nvPr>
            <p:ph type="title"/>
          </p:nvPr>
        </p:nvSpPr>
        <p:spPr>
          <a:xfrm>
            <a:off x="0" y="0"/>
            <a:ext cx="12192000" cy="6857999"/>
          </a:xfrm>
        </p:spPr>
        <p:txBody>
          <a:bodyPr>
            <a:noAutofit/>
          </a:bodyPr>
          <a:lstStyle/>
          <a:p>
            <a:r>
              <a:rPr lang="en-GB" sz="2800" b="1" u="sng" dirty="0"/>
              <a:t>Advantages of the Flight Delay Complexity Model</a:t>
            </a:r>
            <a:br>
              <a:rPr lang="en-GB" sz="2800" b="1" dirty="0"/>
            </a:br>
            <a:br>
              <a:rPr lang="en-GB" sz="2800" b="1" dirty="0"/>
            </a:br>
            <a:r>
              <a:rPr lang="en-GB" sz="2800" dirty="0"/>
              <a:t>1️⃣ </a:t>
            </a:r>
            <a:r>
              <a:rPr lang="en-GB" sz="2800" b="1" dirty="0"/>
              <a:t>Proactive Delay Management</a:t>
            </a:r>
            <a:br>
              <a:rPr lang="en-GB" sz="2800" dirty="0"/>
            </a:br>
            <a:r>
              <a:rPr lang="en-GB" sz="2800" dirty="0"/>
              <a:t>Predicts critical factors contributing to delays, enabling airlines to take preventive actions.</a:t>
            </a:r>
            <a:br>
              <a:rPr lang="en-GB" sz="2800" dirty="0"/>
            </a:br>
            <a:r>
              <a:rPr lang="en-GB" sz="2800" dirty="0"/>
              <a:t>2️⃣ </a:t>
            </a:r>
            <a:r>
              <a:rPr lang="en-GB" sz="2800" b="1" dirty="0"/>
              <a:t>Improved Operational Efficiency</a:t>
            </a:r>
            <a:br>
              <a:rPr lang="en-GB" sz="2800" dirty="0"/>
            </a:br>
            <a:r>
              <a:rPr lang="en-GB" sz="2800" dirty="0"/>
              <a:t>Optimizes departure, boarding, and baggage handling processes, reducing turnaround time.</a:t>
            </a:r>
            <a:br>
              <a:rPr lang="en-GB" sz="2800" dirty="0"/>
            </a:br>
            <a:r>
              <a:rPr lang="en-GB" sz="2800" dirty="0"/>
              <a:t>3️⃣ </a:t>
            </a:r>
            <a:r>
              <a:rPr lang="en-GB" sz="2800" b="1" dirty="0"/>
              <a:t>Passenger Satisfaction Enhancement</a:t>
            </a:r>
            <a:br>
              <a:rPr lang="en-GB" sz="2800" dirty="0"/>
            </a:br>
            <a:r>
              <a:rPr lang="en-GB" sz="2800" dirty="0"/>
              <a:t>Efficient handling of special cases (children, transfers) reduces arrival delays and improves passenger experience.</a:t>
            </a:r>
            <a:br>
              <a:rPr lang="en-GB" sz="2800" dirty="0"/>
            </a:br>
            <a:r>
              <a:rPr lang="en-GB" sz="2800" dirty="0"/>
              <a:t>4️⃣ </a:t>
            </a:r>
            <a:r>
              <a:rPr lang="en-GB" sz="2800" b="1" dirty="0"/>
              <a:t>Data-Driven Decision Making</a:t>
            </a:r>
            <a:br>
              <a:rPr lang="en-GB" sz="2800" dirty="0"/>
            </a:br>
            <a:r>
              <a:rPr lang="en-GB" sz="2800" dirty="0"/>
              <a:t>Provides actionable insights on high-impact areas, supporting smarter scheduling and resource allocation.</a:t>
            </a:r>
            <a:br>
              <a:rPr lang="en-GB" sz="2800" dirty="0"/>
            </a:br>
            <a:r>
              <a:rPr lang="en-GB" sz="2800" dirty="0"/>
              <a:t>5️⃣ </a:t>
            </a:r>
            <a:r>
              <a:rPr lang="en-GB" sz="2800" b="1" dirty="0"/>
              <a:t>Scalable &amp; Flexible</a:t>
            </a:r>
            <a:br>
              <a:rPr lang="en-GB" sz="2800" dirty="0"/>
            </a:br>
            <a:r>
              <a:rPr lang="en-GB" sz="2800" dirty="0"/>
              <a:t>Easily extendable to include additional complexities in the future (e.g., weather delays, crew availability, maintenance issues).</a:t>
            </a:r>
            <a:endParaRPr lang="en-IN" sz="2800" dirty="0"/>
          </a:p>
        </p:txBody>
      </p:sp>
    </p:spTree>
    <p:extLst>
      <p:ext uri="{BB962C8B-B14F-4D97-AF65-F5344CB8AC3E}">
        <p14:creationId xmlns:p14="http://schemas.microsoft.com/office/powerpoint/2010/main" val="6406922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0CFEBA4-059F-EA28-7862-CA8C4C617503}"/>
              </a:ext>
            </a:extLst>
          </p:cNvPr>
          <p:cNvSpPr txBox="1"/>
          <p:nvPr/>
        </p:nvSpPr>
        <p:spPr>
          <a:xfrm>
            <a:off x="0" y="182880"/>
            <a:ext cx="12192000" cy="6478697"/>
          </a:xfrm>
          <a:prstGeom prst="rect">
            <a:avLst/>
          </a:prstGeom>
          <a:noFill/>
        </p:spPr>
        <p:txBody>
          <a:bodyPr wrap="square" rtlCol="0">
            <a:spAutoFit/>
          </a:bodyPr>
          <a:lstStyle/>
          <a:p>
            <a:pPr algn="ctr"/>
            <a:r>
              <a:rPr lang="en-GB" sz="4000" b="1" u="sng" dirty="0"/>
              <a:t>Future Optimizations for Flight Delay Complexity Model</a:t>
            </a:r>
          </a:p>
          <a:p>
            <a:pPr algn="ctr"/>
            <a:endParaRPr lang="en-GB" b="1" dirty="0"/>
          </a:p>
          <a:p>
            <a:r>
              <a:rPr lang="en-GB" sz="2100" dirty="0"/>
              <a:t>1️⃣ </a:t>
            </a:r>
            <a:r>
              <a:rPr lang="en-GB" sz="2100" b="1" dirty="0"/>
              <a:t>Weather Integration</a:t>
            </a:r>
            <a:endParaRPr lang="en-GB" sz="2100" dirty="0"/>
          </a:p>
          <a:p>
            <a:r>
              <a:rPr lang="en-GB" sz="2100" dirty="0"/>
              <a:t>Include real-time weather data to predict and mitigate weather-related delays.</a:t>
            </a:r>
          </a:p>
          <a:p>
            <a:r>
              <a:rPr lang="en-GB" sz="2100" dirty="0"/>
              <a:t>2️⃣ </a:t>
            </a:r>
            <a:r>
              <a:rPr lang="en-GB" sz="2100" b="1" dirty="0"/>
              <a:t>Airplane Model &amp; Capacity</a:t>
            </a:r>
            <a:endParaRPr lang="en-GB" sz="2100" dirty="0"/>
          </a:p>
          <a:p>
            <a:r>
              <a:rPr lang="en-GB" sz="2100" dirty="0"/>
              <a:t>Factor in aircraft type, seating capacity, and turnaround characteristics for more accurate delay predictions.</a:t>
            </a:r>
          </a:p>
          <a:p>
            <a:r>
              <a:rPr lang="en-GB" sz="2100" dirty="0"/>
              <a:t>3️⃣ </a:t>
            </a:r>
            <a:r>
              <a:rPr lang="en-GB" sz="2100" b="1" dirty="0"/>
              <a:t>Special Services Handling</a:t>
            </a:r>
            <a:endParaRPr lang="en-GB" sz="2100" dirty="0"/>
          </a:p>
          <a:p>
            <a:r>
              <a:rPr lang="en-GB" sz="2100" dirty="0"/>
              <a:t>Include passengers needing extra assistance (wheelchairs, unaccompanied minors) to refine boarding and ground time estimates.</a:t>
            </a:r>
          </a:p>
          <a:p>
            <a:r>
              <a:rPr lang="en-GB" sz="2100" dirty="0"/>
              <a:t>4️⃣ </a:t>
            </a:r>
            <a:r>
              <a:rPr lang="en-GB" sz="2100" b="1" dirty="0"/>
              <a:t>Emergency &amp; Irregular Operations</a:t>
            </a:r>
            <a:endParaRPr lang="en-GB" sz="2100" dirty="0"/>
          </a:p>
          <a:p>
            <a:r>
              <a:rPr lang="en-GB" sz="2100" dirty="0"/>
              <a:t>Account for emergency landings, medical diversions, or unscheduled maintenance for robust delay modelling.</a:t>
            </a:r>
          </a:p>
          <a:p>
            <a:r>
              <a:rPr lang="en-GB" sz="2100" dirty="0"/>
              <a:t>5️⃣ </a:t>
            </a:r>
            <a:r>
              <a:rPr lang="en-GB" sz="2100" b="1" dirty="0"/>
              <a:t>Baggage &amp; Crew Scheduling</a:t>
            </a:r>
            <a:r>
              <a:rPr lang="en-GB" sz="2100" dirty="0"/>
              <a:t> </a:t>
            </a:r>
          </a:p>
          <a:p>
            <a:r>
              <a:rPr lang="en-GB" sz="2100" dirty="0"/>
              <a:t>Integrate baggage priority (hot transfers) and crew availability to optimize operations further.</a:t>
            </a:r>
          </a:p>
          <a:p>
            <a:r>
              <a:rPr lang="en-GB" sz="2100" dirty="0"/>
              <a:t>6️⃣ </a:t>
            </a:r>
            <a:r>
              <a:rPr lang="en-GB" sz="2100" b="1" dirty="0"/>
              <a:t>Airport Traffic &amp; Slot Constraints</a:t>
            </a:r>
            <a:r>
              <a:rPr lang="en-GB" sz="2100" dirty="0"/>
              <a:t> </a:t>
            </a:r>
          </a:p>
          <a:p>
            <a:r>
              <a:rPr lang="en-GB" sz="2100" dirty="0"/>
              <a:t>Include runway congestion, taxiway bottlenecks, and slot availability for a more holistic complexity score.</a:t>
            </a:r>
          </a:p>
          <a:p>
            <a:endParaRPr lang="en-GB" sz="2100" dirty="0"/>
          </a:p>
          <a:p>
            <a:r>
              <a:rPr lang="en-GB" sz="2100" b="1" dirty="0"/>
              <a:t>Impact:</a:t>
            </a:r>
            <a:endParaRPr lang="en-GB" sz="2100" dirty="0"/>
          </a:p>
          <a:p>
            <a:r>
              <a:rPr lang="en-GB" sz="2100" dirty="0"/>
              <a:t>These enhancements make the model </a:t>
            </a:r>
            <a:r>
              <a:rPr lang="en-GB" sz="2100" b="1" dirty="0"/>
              <a:t>more realistic, predictive, and scalable</a:t>
            </a:r>
            <a:r>
              <a:rPr lang="en-GB" sz="2100" dirty="0"/>
              <a:t>, helping airlines optimize operations and minimize delays proactively.</a:t>
            </a:r>
          </a:p>
        </p:txBody>
      </p:sp>
    </p:spTree>
    <p:extLst>
      <p:ext uri="{BB962C8B-B14F-4D97-AF65-F5344CB8AC3E}">
        <p14:creationId xmlns:p14="http://schemas.microsoft.com/office/powerpoint/2010/main" val="55176805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280D6A6-2DB5-9B3F-7CC5-DA08AFE5FDC7}"/>
              </a:ext>
            </a:extLst>
          </p:cNvPr>
          <p:cNvSpPr txBox="1"/>
          <p:nvPr/>
        </p:nvSpPr>
        <p:spPr>
          <a:xfrm>
            <a:off x="3028950" y="2480310"/>
            <a:ext cx="5455532" cy="1569660"/>
          </a:xfrm>
          <a:prstGeom prst="rect">
            <a:avLst/>
          </a:prstGeom>
          <a:noFill/>
        </p:spPr>
        <p:txBody>
          <a:bodyPr wrap="none" rtlCol="0">
            <a:spAutoFit/>
          </a:bodyPr>
          <a:lstStyle/>
          <a:p>
            <a:r>
              <a:rPr lang="en-IN" sz="9600" b="1" u="sng" dirty="0"/>
              <a:t>Thank You</a:t>
            </a:r>
          </a:p>
        </p:txBody>
      </p:sp>
    </p:spTree>
    <p:extLst>
      <p:ext uri="{BB962C8B-B14F-4D97-AF65-F5344CB8AC3E}">
        <p14:creationId xmlns:p14="http://schemas.microsoft.com/office/powerpoint/2010/main" val="13597337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316</TotalTime>
  <Words>1519</Words>
  <Application>Microsoft Office PowerPoint</Application>
  <PresentationFormat>Widescreen</PresentationFormat>
  <Paragraphs>144</Paragraphs>
  <Slides>43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43</vt:i4>
      </vt:variant>
    </vt:vector>
  </HeadingPairs>
  <TitlesOfParts>
    <vt:vector size="47" baseType="lpstr">
      <vt:lpstr>Arial</vt:lpstr>
      <vt:lpstr>Calibri</vt:lpstr>
      <vt:lpstr>Calibri Light</vt:lpstr>
      <vt:lpstr>Office Theme</vt:lpstr>
      <vt:lpstr>Flight Complexity Analysis and Prediction</vt:lpstr>
      <vt:lpstr>PowerPoint Presentation</vt:lpstr>
      <vt:lpstr>Problem Statement</vt:lpstr>
      <vt:lpstr>Objectives</vt:lpstr>
      <vt:lpstr>DATA DESCRIPTION</vt:lpstr>
      <vt:lpstr>Solution</vt:lpstr>
      <vt:lpstr>PowerPoint Presentation</vt:lpstr>
      <vt:lpstr>FLIGHT LEVEL DATA</vt:lpstr>
      <vt:lpstr>PowerPoint Presentation</vt:lpstr>
      <vt:lpstr>PowerPoint Presentation</vt:lpstr>
      <vt:lpstr>PowerPoint Presentation</vt:lpstr>
      <vt:lpstr>PowerPoint Presentation</vt:lpstr>
      <vt:lpstr>PowerPoint Presentation</vt:lpstr>
      <vt:lpstr>PowerPoint Presentation</vt:lpstr>
      <vt:lpstr>Passengers Level Data</vt:lpstr>
      <vt:lpstr>PowerPoint Presentation</vt:lpstr>
      <vt:lpstr>PowerPoint Presentation</vt:lpstr>
      <vt:lpstr>PowerPoint Presentation</vt:lpstr>
      <vt:lpstr>PowerPoint Presentation</vt:lpstr>
      <vt:lpstr>Bag Level Data</vt:lpstr>
      <vt:lpstr>PowerPoint Presentation</vt:lpstr>
      <vt:lpstr>PowerPoint Presentation</vt:lpstr>
      <vt:lpstr>PowerPoint Presentation</vt:lpstr>
      <vt:lpstr>PowerPoint Presentation</vt:lpstr>
      <vt:lpstr>PowerPoint Presentation</vt:lpstr>
      <vt:lpstr>Flight Complexity Integration</vt:lpstr>
      <vt:lpstr>Classification of Complexities and Distribution</vt:lpstr>
      <vt:lpstr>PowerPoint Presentation</vt:lpstr>
      <vt:lpstr>Insights</vt:lpstr>
      <vt:lpstr>PowerPoint Presentation</vt:lpstr>
      <vt:lpstr>PowerPoint Presentation</vt:lpstr>
      <vt:lpstr>PowerPoint Presentation</vt:lpstr>
      <vt:lpstr>PowerPoint Presentation</vt:lpstr>
      <vt:lpstr>PowerPoint Presentation</vt:lpstr>
      <vt:lpstr>PowerPoint Presentation</vt:lpstr>
      <vt:lpstr>Recommendations</vt:lpstr>
      <vt:lpstr>PowerPoint Presentation</vt:lpstr>
      <vt:lpstr>PowerPoint Presentation</vt:lpstr>
      <vt:lpstr>PowerPoint Presentation</vt:lpstr>
      <vt:lpstr>PowerPoint Presentation</vt:lpstr>
      <vt:lpstr>Advantages of the Flight Delay Complexity Model  1️⃣ Proactive Delay Management Predicts critical factors contributing to delays, enabling airlines to take preventive actions. 2️⃣ Improved Operational Efficiency Optimizes departure, boarding, and baggage handling processes, reducing turnaround time. 3️⃣ Passenger Satisfaction Enhancement Efficient handling of special cases (children, transfers) reduces arrival delays and improves passenger experience. 4️⃣ Data-Driven Decision Making Provides actionable insights on high-impact areas, supporting smarter scheduling and resource allocation. 5️⃣ Scalable &amp; Flexible Easily extendable to include additional complexities in the future (e.g., weather delays, crew availability, maintenance issues).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Tushar Bhardwaj</dc:creator>
  <cp:lastModifiedBy>Tushar Bhardwaj</cp:lastModifiedBy>
  <cp:revision>2</cp:revision>
  <dcterms:created xsi:type="dcterms:W3CDTF">2025-10-05T09:16:05Z</dcterms:created>
  <dcterms:modified xsi:type="dcterms:W3CDTF">2025-10-05T14:32:34Z</dcterms:modified>
</cp:coreProperties>
</file>